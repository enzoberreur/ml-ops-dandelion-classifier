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5117" r:id="rId1"/>
  </p:sldMasterIdLst>
  <p:notesMasterIdLst>
    <p:notesMasterId r:id="rId7"/>
  </p:notesMasterIdLst>
  <p:handoutMasterIdLst>
    <p:handoutMasterId r:id="rId8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</p:sldIdLst>
  <p:sldSz cx="12192000" cy="6858000"/>
  <p:notesSz cx="6950075" cy="9236075"/>
  <p:custShowLst>
    <p:custShow name="Format Guide Workshop" id="0">
      <p:sldLst/>
    </p:custShow>
  </p:custShowLst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6323" autoAdjust="0"/>
  </p:normalViewPr>
  <p:slideViewPr>
    <p:cSldViewPr snapToGrid="0">
      <p:cViewPr>
        <p:scale>
          <a:sx n="128" d="100"/>
          <a:sy n="128" d="100"/>
        </p:scale>
        <p:origin x="32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574" y="444"/>
      </p:cViewPr>
      <p:guideLst/>
    </p:cSldViewPr>
  </p:notesViewPr>
  <p:gridSpacing cx="39601" cy="396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6E6F73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6E6F73"/>
              </a:solidFill>
            </c:spPr>
          </c:dPt>
          <c:dPt>
            <c:idx val="3"/>
            <c:spPr>
              <a:solidFill>
                <a:srgbClr val="6E6F73"/>
              </a:solidFill>
            </c:spPr>
          </c:dPt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Macro F1</c:v>
                </c:pt>
                <c:pt idx="2">
                  <c:v>Precision</c:v>
                </c:pt>
                <c:pt idx="3">
                  <c:v>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</c:v>
                </c:pt>
                <c:pt idx="1">
                  <c:v>0.89</c:v>
                </c:pt>
                <c:pt idx="2">
                  <c:v>0.89</c:v>
                </c:pt>
                <c:pt idx="3">
                  <c:v>0.89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.0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PSI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29BA74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29BA74"/>
              </a:solidFill>
            </c:spPr>
          </c:dPt>
          <c:dPt>
            <c:idx val="3"/>
            <c:spPr>
              <a:solidFill>
                <a:srgbClr val="29BA74"/>
              </a:solidFill>
            </c:spPr>
          </c:dPt>
          <c:dPt>
            <c:idx val="4"/>
            <c:spPr>
              <a:solidFill>
                <a:srgbClr val="29BA74"/>
              </a:solidFill>
            </c:spPr>
          </c:dPt>
          <c:dPt>
            <c:idx val="5"/>
            <c:spPr>
              <a:solidFill>
                <a:srgbClr val="6E6F73"/>
              </a:solidFill>
            </c:spPr>
          </c:dPt>
          <c:dPt>
            <c:idx val="6"/>
            <c:spPr>
              <a:solidFill>
                <a:srgbClr val="6E6F73"/>
              </a:solidFill>
            </c:spPr>
          </c:dPt>
          <c:dPt>
            <c:idx val="7"/>
            <c:spPr>
              <a:solidFill>
                <a:srgbClr val="6E6F73"/>
              </a:solidFill>
            </c:spPr>
          </c:dPt>
          <c:cat>
            <c:strRef>
              <c:f>Sheet1!$A$2:$A$9</c:f>
              <c:strCache>
                <c:ptCount val="8"/>
                <c:pt idx="0">
                  <c:v>brightness</c:v>
                </c:pt>
                <c:pt idx="1">
                  <c:v>saturation</c:v>
                </c:pt>
                <c:pt idx="2">
                  <c:v>contrast</c:v>
                </c:pt>
                <c:pt idx="3">
                  <c:v>red mean</c:v>
                </c:pt>
                <c:pt idx="4">
                  <c:v>blue mean</c:v>
                </c:pt>
                <c:pt idx="5">
                  <c:v>edge density</c:v>
                </c:pt>
                <c:pt idx="6">
                  <c:v>aspect ratio</c:v>
                </c:pt>
                <c:pt idx="7">
                  <c:v>green mean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4.75</c:v>
                </c:pt>
                <c:pt idx="1">
                  <c:v>4.02</c:v>
                </c:pt>
                <c:pt idx="2">
                  <c:v>2.27</c:v>
                </c:pt>
                <c:pt idx="3">
                  <c:v>1.54</c:v>
                </c:pt>
                <c:pt idx="4">
                  <c:v>0.59</c:v>
                </c:pt>
                <c:pt idx="5">
                  <c:v>0.04</c:v>
                </c:pt>
                <c:pt idx="6">
                  <c:v>0.04</c:v>
                </c:pt>
                <c:pt idx="7">
                  <c:v>0.02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6770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3/2/26</a:t>
            </a:fld>
            <a:endParaRPr lang="en-US" sz="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6770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4410720"/>
            <a:ext cx="6948467" cy="48253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 dirty="0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2427" y="3"/>
            <a:ext cx="2929274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6103" y="575009"/>
            <a:ext cx="6620256" cy="3724113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2427" y="8744096"/>
            <a:ext cx="2929274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70" y="8744096"/>
            <a:ext cx="2919957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400"/>
            </a:lvl1pPr>
          </a:lstStyle>
          <a:p>
            <a:r>
              <a:rPr lang="en-US" dirty="0"/>
              <a:t>Notes view: </a:t>
            </a:r>
            <a:fld id="{128CEAFE-FA94-43E5-B0FF-D47E1CCDD1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9519" y="4714653"/>
            <a:ext cx="6413424" cy="3768947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7CF5F-7CF3-4DF3-838A-EE34544862CC}" type="datetimeFigureOut">
              <a:rPr lang="en-US" smtClean="0"/>
              <a:t>3/2/26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10" userDrawn="1">
          <p15:clr>
            <a:srgbClr val="F26B43"/>
          </p15:clr>
        </p15:guide>
        <p15:guide id="2" pos="2189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GreenGuard: the perception brain for autonomous chemical-free weeding robots, delivered as a full MLOps loop. 30s.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Answer first: GreenGuard meets every criterion. Context, what we built, outcome.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Frame business value first - juries reward business relevance (15%).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These KPIs anchor the whole deck; we close the loop on the results slide.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Walk left to right: ingest, train, serve, monitor. Docker/K8s wrap it all.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Justify the architecture - core of the 25% ML-quality criterion.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Stress F1 + confusion matrix, not just accuracy. Metrics vary slightly with the split.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/version returns model_arch=resnet18 in the demo.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Three jobs: test, build, validate manifests (kubeconform). The manifests also run on Minikube locally.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Drift surfaced on the existing stack; sample shows 5 of 8 features drifted.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Same drift metric for monitoring and retraining: one source of truth.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Tie each KPI back to the spec slide. Be honest: metrics vary slightly with the split.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awareness of limits + a credible roadmap; juries reward honesty.</a:t>
            </a: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tags" Target="../tags/tag14.xml"/><Relationship Id="rId4" Type="http://schemas.openxmlformats.org/officeDocument/2006/relationships/tags" Target="../tags/tag15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5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9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1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12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 baseline="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470898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399" y="2085628"/>
            <a:ext cx="10933801" cy="408913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630000" y="1544274"/>
            <a:ext cx="3452400" cy="1495794"/>
          </a:xfrm>
          <a:noFill/>
        </p:spPr>
        <p:txBody>
          <a:bodyPr wrap="square" lIns="0" tIns="0" rIns="320040" bIns="0" anchor="b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80465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 sz="3200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526878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261971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</p:spPr>
        <p:txBody>
          <a:bodyPr/>
          <a:lstStyle>
            <a:lvl1pPr>
              <a:defRPr sz="3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53693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Freeform 6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8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50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51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77" name="Straight Connector 76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66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7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8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9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0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1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2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3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4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5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6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3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57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58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61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2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3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4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5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9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0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54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400" y="2085628"/>
            <a:ext cx="10933950" cy="40729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630000" y="2158987"/>
            <a:ext cx="3744000" cy="5416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1227048"/>
            <a:ext cx="3744000" cy="664797"/>
          </a:xfrm>
        </p:spPr>
        <p:txBody>
          <a:bodyPr anchor="t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630000" y="3680016"/>
            <a:ext cx="11558587" cy="0"/>
          </a:xfrm>
          <a:prstGeom prst="line">
            <a:avLst/>
          </a:prstGeom>
          <a:ln w="19050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76529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8101584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936" y="178560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957162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658069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33239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+mn-lt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3822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0" name="Freeform 9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7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145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46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170" name="Straight Connector 169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7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159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0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1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2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3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4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5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6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7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8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9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48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9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150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151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154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5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6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7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8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52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53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9"/>
            <a:ext cx="3448800" cy="3488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dirty="0">
                <a:solidFill>
                  <a:schemeClr val="bg1"/>
                </a:solidFill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4920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0" y="3207715"/>
            <a:ext cx="1547143" cy="4431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chemeClr val="accent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8"/>
            <a:ext cx="3448800" cy="34884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accent4"/>
              </a:solidFill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00617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accent4"/>
                </a:solidFill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accent4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0" y="3262145"/>
            <a:ext cx="1161047" cy="3323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Trebuchet MS" panose="020B0603020202020204" pitchFamily="34" charset="0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theme" Target="../theme/theme1.xml"/><Relationship Id="rId69" Type="http://schemas.openxmlformats.org/officeDocument/2006/relationships/tags" Target="../tags/tag2.xml"/><Relationship Id="rId70" Type="http://schemas.openxmlformats.org/officeDocument/2006/relationships/oleObject" Target="../embeddings/oleObject1.bin"/><Relationship Id="rId71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9"/>
            </p:custDataLst>
            <p:extLst>
              <p:ext uri="{D42A27DB-BD31-4B8C-83A1-F6EECF244321}">
                <p14:modId xmlns:p14="http://schemas.microsoft.com/office/powerpoint/2010/main" val="119414176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0" imgW="270" imgH="270" progId="TCLayout.ActiveDocument.1">
                  <p:embed/>
                </p:oleObj>
              </mc:Choice>
              <mc:Fallback>
                <p:oleObj name="think-cell Slide" r:id="rId70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622800"/>
            <a:ext cx="1093335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1825625"/>
            <a:ext cx="1093335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Level six</a:t>
            </a:r>
          </a:p>
          <a:p>
            <a:pPr lvl="6"/>
            <a:r>
              <a:rPr lang="en-US" dirty="0"/>
              <a:t>Level seven</a:t>
            </a:r>
          </a:p>
          <a:p>
            <a:pPr lvl="7"/>
            <a:r>
              <a:rPr lang="en-US" dirty="0"/>
              <a:t>Level eight</a:t>
            </a:r>
          </a:p>
          <a:p>
            <a:pPr lvl="8"/>
            <a:r>
              <a:rPr lang="en-US" dirty="0"/>
              <a:t>Level nine</a:t>
            </a:r>
          </a:p>
        </p:txBody>
      </p:sp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15" r:id="rId1"/>
    <p:sldLayoutId id="2147485086" r:id="rId2"/>
    <p:sldLayoutId id="2147485183" r:id="rId3"/>
    <p:sldLayoutId id="2147485158" r:id="rId4"/>
    <p:sldLayoutId id="2147485113" r:id="rId5"/>
    <p:sldLayoutId id="2147485114" r:id="rId6"/>
    <p:sldLayoutId id="2147485154" r:id="rId7"/>
    <p:sldLayoutId id="2147485162" r:id="rId8"/>
    <p:sldLayoutId id="2147485149" r:id="rId9"/>
    <p:sldLayoutId id="2147485087" r:id="rId10"/>
    <p:sldLayoutId id="2147485112" r:id="rId11"/>
    <p:sldLayoutId id="2147485155" r:id="rId12"/>
    <p:sldLayoutId id="2147485164" r:id="rId13"/>
    <p:sldLayoutId id="2147485109" r:id="rId14"/>
    <p:sldLayoutId id="2147485165" r:id="rId15"/>
    <p:sldLayoutId id="2147485110" r:id="rId16"/>
    <p:sldLayoutId id="2147485166" r:id="rId17"/>
    <p:sldLayoutId id="2147485156" r:id="rId18"/>
    <p:sldLayoutId id="2147485167" r:id="rId19"/>
    <p:sldLayoutId id="2147485108" r:id="rId20"/>
    <p:sldLayoutId id="2147485107" r:id="rId21"/>
    <p:sldLayoutId id="2147485106" r:id="rId22"/>
    <p:sldLayoutId id="2147485090" r:id="rId23"/>
    <p:sldLayoutId id="2147485091" r:id="rId24"/>
    <p:sldLayoutId id="2147485092" r:id="rId25"/>
    <p:sldLayoutId id="2147485093" r:id="rId26"/>
    <p:sldLayoutId id="2147485116" r:id="rId27"/>
    <p:sldLayoutId id="2147485161" r:id="rId28"/>
    <p:sldLayoutId id="2147485159" r:id="rId29"/>
    <p:sldLayoutId id="2147485119" r:id="rId30"/>
    <p:sldLayoutId id="2147485184" r:id="rId31"/>
    <p:sldLayoutId id="2147485137" r:id="rId32"/>
    <p:sldLayoutId id="2147485120" r:id="rId33"/>
    <p:sldLayoutId id="2147485121" r:id="rId34"/>
    <p:sldLayoutId id="2147485141" r:id="rId35"/>
    <p:sldLayoutId id="2147485163" r:id="rId36"/>
    <p:sldLayoutId id="2147485139" r:id="rId37"/>
    <p:sldLayoutId id="2147485140" r:id="rId38"/>
    <p:sldLayoutId id="2147485122" r:id="rId39"/>
    <p:sldLayoutId id="2147485123" r:id="rId40"/>
    <p:sldLayoutId id="2147485151" r:id="rId41"/>
    <p:sldLayoutId id="2147485168" r:id="rId42"/>
    <p:sldLayoutId id="2147485127" r:id="rId43"/>
    <p:sldLayoutId id="2147485169" r:id="rId44"/>
    <p:sldLayoutId id="2147485126" r:id="rId45"/>
    <p:sldLayoutId id="2147485170" r:id="rId46"/>
    <p:sldLayoutId id="2147485153" r:id="rId47"/>
    <p:sldLayoutId id="2147485171" r:id="rId48"/>
    <p:sldLayoutId id="2147485128" r:id="rId49"/>
    <p:sldLayoutId id="2147485129" r:id="rId50"/>
    <p:sldLayoutId id="2147485130" r:id="rId51"/>
    <p:sldLayoutId id="2147485131" r:id="rId52"/>
    <p:sldLayoutId id="2147485145" r:id="rId53"/>
    <p:sldLayoutId id="2147485133" r:id="rId54"/>
    <p:sldLayoutId id="2147485144" r:id="rId55"/>
    <p:sldLayoutId id="2147485134" r:id="rId56"/>
    <p:sldLayoutId id="2147485146" r:id="rId57"/>
    <p:sldLayoutId id="2147485160" r:id="rId58"/>
    <p:sldLayoutId id="2147485172" r:id="rId59"/>
    <p:sldLayoutId id="2147485173" r:id="rId60"/>
    <p:sldLayoutId id="2147485174" r:id="rId61"/>
    <p:sldLayoutId id="2147485175" r:id="rId62"/>
    <p:sldLayoutId id="2147485176" r:id="rId63"/>
    <p:sldLayoutId id="2147485177" r:id="rId64"/>
    <p:sldLayoutId id="2147485178" r:id="rId65"/>
    <p:sldLayoutId id="2147485179" r:id="rId66"/>
    <p:sldLayoutId id="2147485180" r:id="rId67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6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6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396" userDrawn="1">
          <p15:clr>
            <a:srgbClr val="F26B43"/>
          </p15:clr>
        </p15:guide>
        <p15:guide id="3" pos="7284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h_ctr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GreenGuard: An Industrialised, Self-Maintaining AI Solution</a:t>
            </a:r>
          </a:p>
        </p:txBody>
      </p:sp>
      <p:sp>
        <p:nvSpPr>
          <p:cNvPr id="102" name="ph_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Bloc 4 - AI Solutions - Vision and MLOps for Chemical-Free Weeding Robots</a:t>
            </a:r>
          </a:p>
        </p:txBody>
      </p:sp>
      <p:sp>
        <p:nvSpPr>
          <p:cNvPr id="103" name="ph_body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</p:spTree>
  </p:cSld>
</p:sld>
</file>

<file path=ppt/slides/slide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is a production-grade AI solution that meets every Bloc 4 criterion</a:t>
            </a:r>
          </a:p>
        </p:txBody>
      </p:sp>
      <p:sp>
        <p:nvSpPr>
          <p:cNvPr id="105" name="RR105"/>
          <p:cNvSpPr/>
          <p:nvPr/>
        </p:nvSpPr>
        <p:spPr>
          <a:xfrm>
            <a:off x="630936" y="2075688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6" name="TB106"/>
          <p:cNvSpPr txBox="1"/>
          <p:nvPr/>
        </p:nvSpPr>
        <p:spPr>
          <a:xfrm>
            <a:off x="813815" y="2167128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Context</a:t>
            </a:r>
          </a:p>
        </p:txBody>
      </p:sp>
      <p:sp>
        <p:nvSpPr>
          <p:cNvPr id="107" name="TB107"/>
          <p:cNvSpPr txBox="1"/>
          <p:nvPr/>
        </p:nvSpPr>
        <p:spPr>
          <a:xfrm>
            <a:off x="3099816" y="2167128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Herbicide is being banned (e.g. France's Loi Labbe) and manual weeding is scarce. Autonomous robots weed mechanically, but must tell a weed (dandelion) from the crop (grass) in real time.</a:t>
            </a:r>
          </a:p>
        </p:txBody>
      </p:sp>
      <p:sp>
        <p:nvSpPr>
          <p:cNvPr id="108" name="RR108"/>
          <p:cNvSpPr/>
          <p:nvPr/>
        </p:nvSpPr>
        <p:spPr>
          <a:xfrm>
            <a:off x="630936" y="3410712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9" name="TB109"/>
          <p:cNvSpPr txBox="1"/>
          <p:nvPr/>
        </p:nvSpPr>
        <p:spPr>
          <a:xfrm>
            <a:off x="813815" y="3502152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What we built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3099816" y="3502152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An end-to-end MLOps system: Airflow data pipeline, MLflow-tracked ResNet18, FastAPI serving, CI/CD to Kubernetes, and drift monitoring.</a:t>
            </a:r>
          </a:p>
        </p:txBody>
      </p:sp>
      <p:sp>
        <p:nvSpPr>
          <p:cNvPr id="111" name="RR111"/>
          <p:cNvSpPr/>
          <p:nvPr/>
        </p:nvSpPr>
        <p:spPr>
          <a:xfrm>
            <a:off x="630936" y="4745736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12" name="TB112"/>
          <p:cNvSpPr txBox="1"/>
          <p:nvPr/>
        </p:nvSpPr>
        <p:spPr>
          <a:xfrm>
            <a:off x="813815" y="4837176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Outcome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3099816" y="4837176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Trebuchet MS"/>
              </a:rPr>
              <a:t>~0.90 accuracy / ~0.89 macro-F1, sub-500ms serving, automated drift-triggered retraining. Every Bloc 4 criterion is covered.</a:t>
            </a:r>
          </a:p>
        </p:txBody>
      </p:sp>
    </p:spTree>
  </p:cSld>
</p:sld>
</file>

<file path=ppt/slides/slide3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case and specifications</a:t>
            </a:r>
          </a:p>
        </p:txBody>
      </p:sp>
    </p:spTree>
  </p:cSld>
</p:sld>
</file>

<file path=ppt/slides/slide4.xml><?xml version="1.0" encoding="utf-8"?>
<p:sld xmlns:r="http://schemas.openxmlformats.org/officeDocument/2006/relationships" xmlns:a="http://schemas.openxmlformats.org/drawingml/2006/main" xmlns:ns2="http://schemas.microsoft.com/office/drawing/2014/main" xmlns:ns3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Herbicide bans and labour shortages make autonomous, chemical-free weeding the goal</a:t>
            </a:r>
          </a:p>
        </p:txBody>
      </p:sp>
      <p:sp>
        <p:nvSpPr>
          <p:cNvPr id="116" name="RR116"/>
          <p:cNvSpPr/>
          <p:nvPr/>
        </p:nvSpPr>
        <p:spPr>
          <a:xfrm>
            <a:off x="630936" y="2075688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7" name="R117"/>
          <p:cNvSpPr/>
          <p:nvPr/>
        </p:nvSpPr>
        <p:spPr>
          <a:xfrm>
            <a:off x="630936" y="2075688"/>
            <a:ext cx="73152" cy="99060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18" name="O118"/>
          <p:cNvSpPr/>
          <p:nvPr/>
        </p:nvSpPr>
        <p:spPr>
          <a:xfrm>
            <a:off x="859536" y="2296668"/>
            <a:ext cx="548640" cy="548640"/>
          </a:xfrm>
          <a:prstGeom prst="ellipse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grpSp>
        <p:nvGrpSpPr>
          <p:cNvPr id="119" name="svg_Maple_leaf"/>
          <p:cNvGrpSpPr>
            <a:grpSpLocks noChangeAspect="1"/>
          </p:cNvGrpSpPr>
          <p:nvPr/>
        </p:nvGrpSpPr>
        <p:grpSpPr bwMode="auto">
          <a:xfrm>
            <a:off x="969264" y="2406396"/>
            <a:ext cx="347472" cy="347472"/>
            <a:chOff x="0" y="0"/>
            <a:chExt cx="10000" cy="10000"/>
          </a:xfrm>
        </p:grpSpPr>
        <p:sp>
          <p:nvSpPr>
            <p:cNvPr id="120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7095" y="1285"/>
                  </a:moveTo>
                  <a:cubicBezTo>
                    <a:pt x="7104" y="1285"/>
                    <a:pt x="7117" y="1285"/>
                    <a:pt x="7126" y="1289"/>
                  </a:cubicBezTo>
                  <a:cubicBezTo>
                    <a:pt x="7178" y="1298"/>
                    <a:pt x="7226" y="1324"/>
                    <a:pt x="7252" y="1367"/>
                  </a:cubicBezTo>
                  <a:cubicBezTo>
                    <a:pt x="7286" y="1415"/>
                    <a:pt x="7291" y="1467"/>
                    <a:pt x="7278" y="1528"/>
                  </a:cubicBezTo>
                  <a:cubicBezTo>
                    <a:pt x="7278" y="1532"/>
                    <a:pt x="7278" y="1532"/>
                    <a:pt x="7278" y="1532"/>
                  </a:cubicBezTo>
                  <a:cubicBezTo>
                    <a:pt x="7269" y="1567"/>
                    <a:pt x="7260" y="1606"/>
                    <a:pt x="7247" y="1645"/>
                  </a:cubicBezTo>
                  <a:cubicBezTo>
                    <a:pt x="7221" y="1719"/>
                    <a:pt x="7199" y="1797"/>
                    <a:pt x="7174" y="1871"/>
                  </a:cubicBezTo>
                  <a:cubicBezTo>
                    <a:pt x="7134" y="1988"/>
                    <a:pt x="7095" y="2105"/>
                    <a:pt x="7056" y="2222"/>
                  </a:cubicBezTo>
                  <a:cubicBezTo>
                    <a:pt x="7035" y="2300"/>
                    <a:pt x="7039" y="2322"/>
                    <a:pt x="7039" y="2322"/>
                  </a:cubicBezTo>
                  <a:cubicBezTo>
                    <a:pt x="7039" y="2326"/>
                    <a:pt x="7052" y="2348"/>
                    <a:pt x="7121" y="2387"/>
                  </a:cubicBezTo>
                  <a:cubicBezTo>
                    <a:pt x="7178" y="2418"/>
                    <a:pt x="7278" y="2474"/>
                    <a:pt x="7295" y="2587"/>
                  </a:cubicBezTo>
                  <a:cubicBezTo>
                    <a:pt x="7312" y="2695"/>
                    <a:pt x="7243" y="2782"/>
                    <a:pt x="7199" y="2830"/>
                  </a:cubicBezTo>
                  <a:cubicBezTo>
                    <a:pt x="7108" y="2930"/>
                    <a:pt x="7056" y="2999"/>
                    <a:pt x="7043" y="3086"/>
                  </a:cubicBezTo>
                  <a:cubicBezTo>
                    <a:pt x="7035" y="3147"/>
                    <a:pt x="7061" y="3216"/>
                    <a:pt x="7104" y="3273"/>
                  </a:cubicBezTo>
                  <a:cubicBezTo>
                    <a:pt x="7152" y="3325"/>
                    <a:pt x="7213" y="3359"/>
                    <a:pt x="7269" y="3364"/>
                  </a:cubicBezTo>
                  <a:cubicBezTo>
                    <a:pt x="7278" y="3364"/>
                    <a:pt x="7286" y="3364"/>
                    <a:pt x="7291" y="3364"/>
                  </a:cubicBezTo>
                  <a:cubicBezTo>
                    <a:pt x="7373" y="3364"/>
                    <a:pt x="7456" y="3346"/>
                    <a:pt x="7577" y="3299"/>
                  </a:cubicBezTo>
                  <a:cubicBezTo>
                    <a:pt x="7577" y="3299"/>
                    <a:pt x="7669" y="3264"/>
                    <a:pt x="7747" y="3264"/>
                  </a:cubicBezTo>
                  <a:cubicBezTo>
                    <a:pt x="7790" y="3264"/>
                    <a:pt x="7825" y="3273"/>
                    <a:pt x="7842" y="3307"/>
                  </a:cubicBezTo>
                  <a:cubicBezTo>
                    <a:pt x="7912" y="3381"/>
                    <a:pt x="7764" y="3581"/>
                    <a:pt x="7764" y="3581"/>
                  </a:cubicBezTo>
                  <a:cubicBezTo>
                    <a:pt x="7738" y="3607"/>
                    <a:pt x="7712" y="3633"/>
                    <a:pt x="7690" y="3659"/>
                  </a:cubicBezTo>
                  <a:cubicBezTo>
                    <a:pt x="7634" y="3715"/>
                    <a:pt x="7577" y="3776"/>
                    <a:pt x="7521" y="3832"/>
                  </a:cubicBezTo>
                  <a:cubicBezTo>
                    <a:pt x="7312" y="4054"/>
                    <a:pt x="7091" y="4293"/>
                    <a:pt x="6917" y="4566"/>
                  </a:cubicBezTo>
                  <a:cubicBezTo>
                    <a:pt x="6878" y="4631"/>
                    <a:pt x="6856" y="4679"/>
                    <a:pt x="6839" y="4722"/>
                  </a:cubicBezTo>
                  <a:cubicBezTo>
                    <a:pt x="6830" y="4748"/>
                    <a:pt x="6826" y="4787"/>
                    <a:pt x="6843" y="4818"/>
                  </a:cubicBezTo>
                  <a:cubicBezTo>
                    <a:pt x="6861" y="4844"/>
                    <a:pt x="6891" y="4865"/>
                    <a:pt x="6935" y="4874"/>
                  </a:cubicBezTo>
                  <a:cubicBezTo>
                    <a:pt x="6961" y="4878"/>
                    <a:pt x="6991" y="4883"/>
                    <a:pt x="7026" y="4883"/>
                  </a:cubicBezTo>
                  <a:cubicBezTo>
                    <a:pt x="7074" y="4883"/>
                    <a:pt x="7130" y="4878"/>
                    <a:pt x="7187" y="4870"/>
                  </a:cubicBezTo>
                  <a:cubicBezTo>
                    <a:pt x="7204" y="4870"/>
                    <a:pt x="7226" y="4865"/>
                    <a:pt x="7247" y="4865"/>
                  </a:cubicBezTo>
                  <a:cubicBezTo>
                    <a:pt x="7269" y="4861"/>
                    <a:pt x="7291" y="4857"/>
                    <a:pt x="7312" y="4857"/>
                  </a:cubicBezTo>
                  <a:cubicBezTo>
                    <a:pt x="7373" y="4848"/>
                    <a:pt x="7434" y="4839"/>
                    <a:pt x="7499" y="4839"/>
                  </a:cubicBezTo>
                  <a:cubicBezTo>
                    <a:pt x="7512" y="4839"/>
                    <a:pt x="7521" y="4839"/>
                    <a:pt x="7534" y="4839"/>
                  </a:cubicBezTo>
                  <a:cubicBezTo>
                    <a:pt x="7621" y="4844"/>
                    <a:pt x="7686" y="4874"/>
                    <a:pt x="7734" y="4930"/>
                  </a:cubicBezTo>
                  <a:cubicBezTo>
                    <a:pt x="7764" y="4970"/>
                    <a:pt x="7795" y="5035"/>
                    <a:pt x="7777" y="5135"/>
                  </a:cubicBezTo>
                  <a:cubicBezTo>
                    <a:pt x="7773" y="5156"/>
                    <a:pt x="7773" y="5178"/>
                    <a:pt x="7834" y="5226"/>
                  </a:cubicBezTo>
                  <a:cubicBezTo>
                    <a:pt x="7986" y="5339"/>
                    <a:pt x="8164" y="5421"/>
                    <a:pt x="8355" y="5504"/>
                  </a:cubicBezTo>
                  <a:cubicBezTo>
                    <a:pt x="8377" y="5512"/>
                    <a:pt x="8398" y="5521"/>
                    <a:pt x="8416" y="5529"/>
                  </a:cubicBezTo>
                  <a:cubicBezTo>
                    <a:pt x="8459" y="5551"/>
                    <a:pt x="8507" y="5569"/>
                    <a:pt x="8550" y="5586"/>
                  </a:cubicBezTo>
                  <a:cubicBezTo>
                    <a:pt x="8698" y="5651"/>
                    <a:pt x="8850" y="5712"/>
                    <a:pt x="8993" y="5807"/>
                  </a:cubicBezTo>
                  <a:cubicBezTo>
                    <a:pt x="9041" y="5842"/>
                    <a:pt x="9097" y="5877"/>
                    <a:pt x="9145" y="5933"/>
                  </a:cubicBezTo>
                  <a:cubicBezTo>
                    <a:pt x="9150" y="5938"/>
                    <a:pt x="9150" y="5938"/>
                    <a:pt x="9150" y="5938"/>
                  </a:cubicBezTo>
                  <a:cubicBezTo>
                    <a:pt x="9254" y="6050"/>
                    <a:pt x="9215" y="6155"/>
                    <a:pt x="9189" y="6198"/>
                  </a:cubicBezTo>
                  <a:cubicBezTo>
                    <a:pt x="9154" y="6259"/>
                    <a:pt x="9089" y="6298"/>
                    <a:pt x="9019" y="6298"/>
                  </a:cubicBezTo>
                  <a:cubicBezTo>
                    <a:pt x="8985" y="6298"/>
                    <a:pt x="8963" y="6289"/>
                    <a:pt x="8950" y="6285"/>
                  </a:cubicBezTo>
                  <a:cubicBezTo>
                    <a:pt x="8950" y="6285"/>
                    <a:pt x="8950" y="6285"/>
                    <a:pt x="8950" y="6285"/>
                  </a:cubicBezTo>
                  <a:cubicBezTo>
                    <a:pt x="8850" y="6272"/>
                    <a:pt x="8733" y="6254"/>
                    <a:pt x="8624" y="6254"/>
                  </a:cubicBezTo>
                  <a:cubicBezTo>
                    <a:pt x="8602" y="6254"/>
                    <a:pt x="8585" y="6254"/>
                    <a:pt x="8568" y="6254"/>
                  </a:cubicBezTo>
                  <a:cubicBezTo>
                    <a:pt x="8429" y="6263"/>
                    <a:pt x="8329" y="6289"/>
                    <a:pt x="8255" y="6345"/>
                  </a:cubicBezTo>
                  <a:cubicBezTo>
                    <a:pt x="8186" y="6393"/>
                    <a:pt x="8159" y="6441"/>
                    <a:pt x="8159" y="6515"/>
                  </a:cubicBezTo>
                  <a:cubicBezTo>
                    <a:pt x="8164" y="6606"/>
                    <a:pt x="8168" y="6714"/>
                    <a:pt x="8086" y="6797"/>
                  </a:cubicBezTo>
                  <a:cubicBezTo>
                    <a:pt x="8016" y="6866"/>
                    <a:pt x="7921" y="6875"/>
                    <a:pt x="7821" y="6884"/>
                  </a:cubicBezTo>
                  <a:cubicBezTo>
                    <a:pt x="7725" y="6892"/>
                    <a:pt x="7625" y="6901"/>
                    <a:pt x="7538" y="6936"/>
                  </a:cubicBezTo>
                  <a:cubicBezTo>
                    <a:pt x="7317" y="7018"/>
                    <a:pt x="7234" y="7179"/>
                    <a:pt x="7299" y="7409"/>
                  </a:cubicBezTo>
                  <a:cubicBezTo>
                    <a:pt x="7312" y="7461"/>
                    <a:pt x="7339" y="7517"/>
                    <a:pt x="7369" y="7591"/>
                  </a:cubicBezTo>
                  <a:cubicBezTo>
                    <a:pt x="7386" y="7630"/>
                    <a:pt x="7386" y="7630"/>
                    <a:pt x="7386" y="7630"/>
                  </a:cubicBezTo>
                  <a:cubicBezTo>
                    <a:pt x="7556" y="8025"/>
                    <a:pt x="7556" y="8025"/>
                    <a:pt x="7556" y="8025"/>
                  </a:cubicBezTo>
                  <a:cubicBezTo>
                    <a:pt x="7160" y="7860"/>
                    <a:pt x="7160" y="7860"/>
                    <a:pt x="7160" y="7860"/>
                  </a:cubicBezTo>
                  <a:cubicBezTo>
                    <a:pt x="7047" y="7812"/>
                    <a:pt x="6956" y="7752"/>
                    <a:pt x="6887" y="7669"/>
                  </a:cubicBezTo>
                  <a:cubicBezTo>
                    <a:pt x="6843" y="7622"/>
                    <a:pt x="6791" y="7600"/>
                    <a:pt x="6718" y="7600"/>
                  </a:cubicBezTo>
                  <a:cubicBezTo>
                    <a:pt x="6691" y="7600"/>
                    <a:pt x="6665" y="7604"/>
                    <a:pt x="6635" y="7609"/>
                  </a:cubicBezTo>
                  <a:cubicBezTo>
                    <a:pt x="6583" y="7617"/>
                    <a:pt x="6526" y="7617"/>
                    <a:pt x="6470" y="7617"/>
                  </a:cubicBezTo>
                  <a:cubicBezTo>
                    <a:pt x="6305" y="7617"/>
                    <a:pt x="6140" y="7587"/>
                    <a:pt x="5966" y="7517"/>
                  </a:cubicBezTo>
                  <a:cubicBezTo>
                    <a:pt x="5936" y="7504"/>
                    <a:pt x="5905" y="7491"/>
                    <a:pt x="5875" y="7483"/>
                  </a:cubicBezTo>
                  <a:cubicBezTo>
                    <a:pt x="5840" y="7470"/>
                    <a:pt x="5805" y="7452"/>
                    <a:pt x="5771" y="7439"/>
                  </a:cubicBezTo>
                  <a:cubicBezTo>
                    <a:pt x="5719" y="7422"/>
                    <a:pt x="5679" y="7409"/>
                    <a:pt x="5645" y="7409"/>
                  </a:cubicBezTo>
                  <a:cubicBezTo>
                    <a:pt x="5614" y="7409"/>
                    <a:pt x="5549" y="7409"/>
                    <a:pt x="5441" y="7574"/>
                  </a:cubicBezTo>
                  <a:cubicBezTo>
                    <a:pt x="5397" y="7630"/>
                    <a:pt x="5354" y="7730"/>
                    <a:pt x="5432" y="7912"/>
                  </a:cubicBezTo>
                  <a:cubicBezTo>
                    <a:pt x="5480" y="8021"/>
                    <a:pt x="5554" y="8121"/>
                    <a:pt x="5671" y="8238"/>
                  </a:cubicBezTo>
                  <a:cubicBezTo>
                    <a:pt x="5675" y="8238"/>
                    <a:pt x="5675" y="8242"/>
                    <a:pt x="5679" y="8242"/>
                  </a:cubicBezTo>
                  <a:cubicBezTo>
                    <a:pt x="5701" y="8264"/>
                    <a:pt x="5753" y="8307"/>
                    <a:pt x="5775" y="8385"/>
                  </a:cubicBezTo>
                  <a:cubicBezTo>
                    <a:pt x="5810" y="8507"/>
                    <a:pt x="5810" y="8507"/>
                    <a:pt x="5810" y="8507"/>
                  </a:cubicBezTo>
                  <a:cubicBezTo>
                    <a:pt x="5706" y="8576"/>
                    <a:pt x="5706" y="8576"/>
                    <a:pt x="5706" y="8576"/>
                  </a:cubicBezTo>
                  <a:cubicBezTo>
                    <a:pt x="5662" y="8607"/>
                    <a:pt x="5614" y="8620"/>
                    <a:pt x="5562" y="8620"/>
                  </a:cubicBezTo>
                  <a:cubicBezTo>
                    <a:pt x="5532" y="8620"/>
                    <a:pt x="5506" y="8615"/>
                    <a:pt x="5488" y="8611"/>
                  </a:cubicBezTo>
                  <a:cubicBezTo>
                    <a:pt x="5484" y="8611"/>
                    <a:pt x="5480" y="8607"/>
                    <a:pt x="5480" y="8607"/>
                  </a:cubicBezTo>
                  <a:cubicBezTo>
                    <a:pt x="4919" y="8507"/>
                    <a:pt x="4424" y="8225"/>
                    <a:pt x="4003" y="7769"/>
                  </a:cubicBezTo>
                  <a:cubicBezTo>
                    <a:pt x="3903" y="7656"/>
                    <a:pt x="3821" y="7552"/>
                    <a:pt x="3755" y="7444"/>
                  </a:cubicBezTo>
                  <a:cubicBezTo>
                    <a:pt x="3642" y="7261"/>
                    <a:pt x="3595" y="7075"/>
                    <a:pt x="3612" y="6884"/>
                  </a:cubicBezTo>
                  <a:cubicBezTo>
                    <a:pt x="3130" y="7300"/>
                    <a:pt x="2618" y="7656"/>
                    <a:pt x="2127" y="7982"/>
                  </a:cubicBezTo>
                  <a:cubicBezTo>
                    <a:pt x="1896" y="8134"/>
                    <a:pt x="1666" y="8286"/>
                    <a:pt x="1414" y="8451"/>
                  </a:cubicBezTo>
                  <a:cubicBezTo>
                    <a:pt x="1336" y="8503"/>
                    <a:pt x="1289" y="8546"/>
                    <a:pt x="1258" y="8598"/>
                  </a:cubicBezTo>
                  <a:cubicBezTo>
                    <a:pt x="1193" y="8702"/>
                    <a:pt x="1110" y="8715"/>
                    <a:pt x="1067" y="8715"/>
                  </a:cubicBezTo>
                  <a:cubicBezTo>
                    <a:pt x="1067" y="8715"/>
                    <a:pt x="1067" y="8715"/>
                    <a:pt x="1067" y="8715"/>
                  </a:cubicBezTo>
                  <a:cubicBezTo>
                    <a:pt x="1015" y="8715"/>
                    <a:pt x="945" y="8698"/>
                    <a:pt x="880" y="8615"/>
                  </a:cubicBezTo>
                  <a:cubicBezTo>
                    <a:pt x="837" y="8555"/>
                    <a:pt x="776" y="8463"/>
                    <a:pt x="802" y="8351"/>
                  </a:cubicBezTo>
                  <a:cubicBezTo>
                    <a:pt x="824" y="8238"/>
                    <a:pt x="915" y="8177"/>
                    <a:pt x="985" y="8142"/>
                  </a:cubicBezTo>
                  <a:cubicBezTo>
                    <a:pt x="1910" y="7639"/>
                    <a:pt x="2700" y="7092"/>
                    <a:pt x="3404" y="6476"/>
                  </a:cubicBezTo>
                  <a:cubicBezTo>
                    <a:pt x="3364" y="6476"/>
                    <a:pt x="3325" y="6480"/>
                    <a:pt x="3291" y="6484"/>
                  </a:cubicBezTo>
                  <a:cubicBezTo>
                    <a:pt x="3256" y="6484"/>
                    <a:pt x="3221" y="6484"/>
                    <a:pt x="3187" y="6484"/>
                  </a:cubicBezTo>
                  <a:cubicBezTo>
                    <a:pt x="2826" y="6484"/>
                    <a:pt x="2500" y="6354"/>
                    <a:pt x="2214" y="6094"/>
                  </a:cubicBezTo>
                  <a:cubicBezTo>
                    <a:pt x="1918" y="5820"/>
                    <a:pt x="1692" y="5569"/>
                    <a:pt x="1510" y="5304"/>
                  </a:cubicBezTo>
                  <a:cubicBezTo>
                    <a:pt x="1510" y="5299"/>
                    <a:pt x="1506" y="5295"/>
                    <a:pt x="1501" y="5291"/>
                  </a:cubicBezTo>
                  <a:cubicBezTo>
                    <a:pt x="1414" y="5187"/>
                    <a:pt x="1401" y="5087"/>
                    <a:pt x="1462" y="4996"/>
                  </a:cubicBezTo>
                  <a:cubicBezTo>
                    <a:pt x="1501" y="4926"/>
                    <a:pt x="1571" y="4891"/>
                    <a:pt x="1653" y="4891"/>
                  </a:cubicBezTo>
                  <a:cubicBezTo>
                    <a:pt x="1692" y="4891"/>
                    <a:pt x="1723" y="4900"/>
                    <a:pt x="1749" y="4905"/>
                  </a:cubicBezTo>
                  <a:cubicBezTo>
                    <a:pt x="1753" y="4905"/>
                    <a:pt x="1758" y="4909"/>
                    <a:pt x="1762" y="4909"/>
                  </a:cubicBezTo>
                  <a:cubicBezTo>
                    <a:pt x="1788" y="4913"/>
                    <a:pt x="1810" y="4918"/>
                    <a:pt x="1836" y="4918"/>
                  </a:cubicBezTo>
                  <a:cubicBezTo>
                    <a:pt x="1992" y="4944"/>
                    <a:pt x="2144" y="4970"/>
                    <a:pt x="2296" y="4970"/>
                  </a:cubicBezTo>
                  <a:cubicBezTo>
                    <a:pt x="2309" y="4970"/>
                    <a:pt x="2322" y="4970"/>
                    <a:pt x="2335" y="4970"/>
                  </a:cubicBezTo>
                  <a:cubicBezTo>
                    <a:pt x="2444" y="4965"/>
                    <a:pt x="2496" y="4939"/>
                    <a:pt x="2509" y="4918"/>
                  </a:cubicBezTo>
                  <a:cubicBezTo>
                    <a:pt x="2522" y="4896"/>
                    <a:pt x="2526" y="4839"/>
                    <a:pt x="2487" y="4744"/>
                  </a:cubicBezTo>
                  <a:cubicBezTo>
                    <a:pt x="2383" y="4496"/>
                    <a:pt x="2201" y="4293"/>
                    <a:pt x="2027" y="4093"/>
                  </a:cubicBezTo>
                  <a:cubicBezTo>
                    <a:pt x="1979" y="4041"/>
                    <a:pt x="1927" y="3984"/>
                    <a:pt x="1879" y="3932"/>
                  </a:cubicBezTo>
                  <a:cubicBezTo>
                    <a:pt x="1844" y="3898"/>
                    <a:pt x="1814" y="3863"/>
                    <a:pt x="1784" y="3828"/>
                  </a:cubicBezTo>
                  <a:cubicBezTo>
                    <a:pt x="1779" y="3828"/>
                    <a:pt x="1779" y="3828"/>
                    <a:pt x="1779" y="3828"/>
                  </a:cubicBezTo>
                  <a:cubicBezTo>
                    <a:pt x="1666" y="3707"/>
                    <a:pt x="1723" y="3598"/>
                    <a:pt x="1740" y="3568"/>
                  </a:cubicBezTo>
                  <a:cubicBezTo>
                    <a:pt x="1779" y="3507"/>
                    <a:pt x="1840" y="3472"/>
                    <a:pt x="1910" y="3472"/>
                  </a:cubicBezTo>
                  <a:cubicBezTo>
                    <a:pt x="1944" y="3472"/>
                    <a:pt x="1975" y="3485"/>
                    <a:pt x="1992" y="3490"/>
                  </a:cubicBezTo>
                  <a:cubicBezTo>
                    <a:pt x="1996" y="3490"/>
                    <a:pt x="1996" y="3490"/>
                    <a:pt x="1996" y="3490"/>
                  </a:cubicBezTo>
                  <a:cubicBezTo>
                    <a:pt x="2023" y="3498"/>
                    <a:pt x="2053" y="3507"/>
                    <a:pt x="2079" y="3516"/>
                  </a:cubicBezTo>
                  <a:cubicBezTo>
                    <a:pt x="2174" y="3542"/>
                    <a:pt x="2261" y="3568"/>
                    <a:pt x="2353" y="3576"/>
                  </a:cubicBezTo>
                  <a:cubicBezTo>
                    <a:pt x="2361" y="3576"/>
                    <a:pt x="2374" y="3576"/>
                    <a:pt x="2383" y="3576"/>
                  </a:cubicBezTo>
                  <a:cubicBezTo>
                    <a:pt x="2487" y="3576"/>
                    <a:pt x="2531" y="3533"/>
                    <a:pt x="2535" y="3420"/>
                  </a:cubicBezTo>
                  <a:cubicBezTo>
                    <a:pt x="2539" y="3333"/>
                    <a:pt x="2531" y="3242"/>
                    <a:pt x="2509" y="3155"/>
                  </a:cubicBezTo>
                  <a:cubicBezTo>
                    <a:pt x="2470" y="2999"/>
                    <a:pt x="2526" y="2856"/>
                    <a:pt x="2652" y="2765"/>
                  </a:cubicBezTo>
                  <a:cubicBezTo>
                    <a:pt x="2657" y="2765"/>
                    <a:pt x="2661" y="2760"/>
                    <a:pt x="2665" y="2756"/>
                  </a:cubicBezTo>
                  <a:cubicBezTo>
                    <a:pt x="2674" y="2747"/>
                    <a:pt x="2687" y="2734"/>
                    <a:pt x="2709" y="2726"/>
                  </a:cubicBezTo>
                  <a:cubicBezTo>
                    <a:pt x="2861" y="2626"/>
                    <a:pt x="2908" y="2500"/>
                    <a:pt x="2865" y="2296"/>
                  </a:cubicBezTo>
                  <a:cubicBezTo>
                    <a:pt x="2852" y="2222"/>
                    <a:pt x="2835" y="2148"/>
                    <a:pt x="2817" y="2079"/>
                  </a:cubicBezTo>
                  <a:cubicBezTo>
                    <a:pt x="2804" y="2027"/>
                    <a:pt x="2796" y="1975"/>
                    <a:pt x="2782" y="1923"/>
                  </a:cubicBezTo>
                  <a:cubicBezTo>
                    <a:pt x="2782" y="1918"/>
                    <a:pt x="2782" y="1918"/>
                    <a:pt x="2782" y="1918"/>
                  </a:cubicBezTo>
                  <a:cubicBezTo>
                    <a:pt x="2726" y="1736"/>
                    <a:pt x="2856" y="1667"/>
                    <a:pt x="2882" y="1654"/>
                  </a:cubicBezTo>
                  <a:cubicBezTo>
                    <a:pt x="2908" y="1641"/>
                    <a:pt x="2939" y="1636"/>
                    <a:pt x="2965" y="1636"/>
                  </a:cubicBezTo>
                  <a:cubicBezTo>
                    <a:pt x="3069" y="1636"/>
                    <a:pt x="3126" y="1710"/>
                    <a:pt x="3143" y="1736"/>
                  </a:cubicBezTo>
                  <a:cubicBezTo>
                    <a:pt x="3147" y="1740"/>
                    <a:pt x="3147" y="1740"/>
                    <a:pt x="3147" y="1740"/>
                  </a:cubicBezTo>
                  <a:cubicBezTo>
                    <a:pt x="3260" y="1879"/>
                    <a:pt x="3360" y="2031"/>
                    <a:pt x="3456" y="2174"/>
                  </a:cubicBezTo>
                  <a:cubicBezTo>
                    <a:pt x="3482" y="2214"/>
                    <a:pt x="3508" y="2253"/>
                    <a:pt x="3534" y="2292"/>
                  </a:cubicBezTo>
                  <a:cubicBezTo>
                    <a:pt x="3556" y="2322"/>
                    <a:pt x="3577" y="2357"/>
                    <a:pt x="3599" y="2387"/>
                  </a:cubicBezTo>
                  <a:cubicBezTo>
                    <a:pt x="3634" y="2444"/>
                    <a:pt x="3669" y="2491"/>
                    <a:pt x="3703" y="2539"/>
                  </a:cubicBezTo>
                  <a:cubicBezTo>
                    <a:pt x="3781" y="2652"/>
                    <a:pt x="3847" y="2665"/>
                    <a:pt x="3890" y="2665"/>
                  </a:cubicBezTo>
                  <a:cubicBezTo>
                    <a:pt x="3929" y="2665"/>
                    <a:pt x="3973" y="2656"/>
                    <a:pt x="4020" y="2635"/>
                  </a:cubicBezTo>
                  <a:cubicBezTo>
                    <a:pt x="4068" y="2617"/>
                    <a:pt x="4107" y="2609"/>
                    <a:pt x="4146" y="2609"/>
                  </a:cubicBezTo>
                  <a:cubicBezTo>
                    <a:pt x="4190" y="2609"/>
                    <a:pt x="4337" y="2626"/>
                    <a:pt x="4372" y="2826"/>
                  </a:cubicBezTo>
                  <a:cubicBezTo>
                    <a:pt x="4390" y="2947"/>
                    <a:pt x="4420" y="3043"/>
                    <a:pt x="4455" y="3125"/>
                  </a:cubicBezTo>
                  <a:cubicBezTo>
                    <a:pt x="4502" y="3229"/>
                    <a:pt x="4524" y="3242"/>
                    <a:pt x="4546" y="3242"/>
                  </a:cubicBezTo>
                  <a:cubicBezTo>
                    <a:pt x="4550" y="3242"/>
                    <a:pt x="4555" y="3242"/>
                    <a:pt x="4559" y="3242"/>
                  </a:cubicBezTo>
                  <a:cubicBezTo>
                    <a:pt x="4576" y="3242"/>
                    <a:pt x="4620" y="3242"/>
                    <a:pt x="4680" y="3155"/>
                  </a:cubicBezTo>
                  <a:cubicBezTo>
                    <a:pt x="4772" y="3025"/>
                    <a:pt x="4806" y="2869"/>
                    <a:pt x="4832" y="2704"/>
                  </a:cubicBezTo>
                  <a:cubicBezTo>
                    <a:pt x="4850" y="2600"/>
                    <a:pt x="4859" y="2496"/>
                    <a:pt x="4863" y="2383"/>
                  </a:cubicBezTo>
                  <a:cubicBezTo>
                    <a:pt x="4867" y="2318"/>
                    <a:pt x="4872" y="2248"/>
                    <a:pt x="4880" y="2179"/>
                  </a:cubicBezTo>
                  <a:cubicBezTo>
                    <a:pt x="4876" y="2018"/>
                    <a:pt x="4998" y="1975"/>
                    <a:pt x="5024" y="1966"/>
                  </a:cubicBezTo>
                  <a:cubicBezTo>
                    <a:pt x="5041" y="1962"/>
                    <a:pt x="5063" y="1957"/>
                    <a:pt x="5080" y="1957"/>
                  </a:cubicBezTo>
                  <a:cubicBezTo>
                    <a:pt x="5154" y="1957"/>
                    <a:pt x="5215" y="1997"/>
                    <a:pt x="5262" y="2066"/>
                  </a:cubicBezTo>
                  <a:cubicBezTo>
                    <a:pt x="5262" y="2070"/>
                    <a:pt x="5262" y="2070"/>
                    <a:pt x="5262" y="2070"/>
                  </a:cubicBezTo>
                  <a:cubicBezTo>
                    <a:pt x="5315" y="2140"/>
                    <a:pt x="5367" y="2218"/>
                    <a:pt x="5432" y="2279"/>
                  </a:cubicBezTo>
                  <a:cubicBezTo>
                    <a:pt x="5471" y="2313"/>
                    <a:pt x="5514" y="2335"/>
                    <a:pt x="5554" y="2335"/>
                  </a:cubicBezTo>
                  <a:cubicBezTo>
                    <a:pt x="5588" y="2335"/>
                    <a:pt x="5627" y="2318"/>
                    <a:pt x="5666" y="2283"/>
                  </a:cubicBezTo>
                  <a:cubicBezTo>
                    <a:pt x="5723" y="2235"/>
                    <a:pt x="5771" y="2170"/>
                    <a:pt x="5814" y="2109"/>
                  </a:cubicBezTo>
                  <a:cubicBezTo>
                    <a:pt x="5888" y="1997"/>
                    <a:pt x="5988" y="1970"/>
                    <a:pt x="6057" y="1970"/>
                  </a:cubicBezTo>
                  <a:cubicBezTo>
                    <a:pt x="6083" y="1970"/>
                    <a:pt x="6105" y="1975"/>
                    <a:pt x="6131" y="1979"/>
                  </a:cubicBezTo>
                  <a:cubicBezTo>
                    <a:pt x="6157" y="1984"/>
                    <a:pt x="6183" y="1988"/>
                    <a:pt x="6205" y="1988"/>
                  </a:cubicBezTo>
                  <a:cubicBezTo>
                    <a:pt x="6288" y="1988"/>
                    <a:pt x="6370" y="1953"/>
                    <a:pt x="6448" y="1888"/>
                  </a:cubicBezTo>
                  <a:cubicBezTo>
                    <a:pt x="6605" y="1762"/>
                    <a:pt x="6735" y="1606"/>
                    <a:pt x="6874" y="1437"/>
                  </a:cubicBezTo>
                  <a:cubicBezTo>
                    <a:pt x="6895" y="1411"/>
                    <a:pt x="6895" y="1411"/>
                    <a:pt x="6895" y="1411"/>
                  </a:cubicBezTo>
                  <a:cubicBezTo>
                    <a:pt x="6900" y="1406"/>
                    <a:pt x="6900" y="1402"/>
                    <a:pt x="6904" y="1398"/>
                  </a:cubicBezTo>
                  <a:cubicBezTo>
                    <a:pt x="6917" y="1385"/>
                    <a:pt x="6930" y="1367"/>
                    <a:pt x="6948" y="1350"/>
                  </a:cubicBezTo>
                  <a:cubicBezTo>
                    <a:pt x="6965" y="1328"/>
                    <a:pt x="7017" y="1285"/>
                    <a:pt x="7095" y="1285"/>
                  </a:cubicBezTo>
                  <a:moveTo>
                    <a:pt x="7095" y="1111"/>
                  </a:moveTo>
                  <a:cubicBezTo>
                    <a:pt x="6952" y="1111"/>
                    <a:pt x="6856" y="1194"/>
                    <a:pt x="6822" y="1228"/>
                  </a:cubicBezTo>
                  <a:cubicBezTo>
                    <a:pt x="6800" y="1250"/>
                    <a:pt x="6783" y="1272"/>
                    <a:pt x="6770" y="1289"/>
                  </a:cubicBezTo>
                  <a:cubicBezTo>
                    <a:pt x="6770" y="1289"/>
                    <a:pt x="6770" y="1289"/>
                    <a:pt x="6770" y="1289"/>
                  </a:cubicBezTo>
                  <a:cubicBezTo>
                    <a:pt x="6765" y="1293"/>
                    <a:pt x="6761" y="1298"/>
                    <a:pt x="6761" y="1298"/>
                  </a:cubicBezTo>
                  <a:cubicBezTo>
                    <a:pt x="6739" y="1328"/>
                    <a:pt x="6739" y="1328"/>
                    <a:pt x="6739" y="1328"/>
                  </a:cubicBezTo>
                  <a:cubicBezTo>
                    <a:pt x="6605" y="1489"/>
                    <a:pt x="6483" y="1636"/>
                    <a:pt x="6340" y="1753"/>
                  </a:cubicBezTo>
                  <a:cubicBezTo>
                    <a:pt x="6274" y="1806"/>
                    <a:pt x="6231" y="1814"/>
                    <a:pt x="6205" y="1814"/>
                  </a:cubicBezTo>
                  <a:cubicBezTo>
                    <a:pt x="6196" y="1814"/>
                    <a:pt x="6179" y="1810"/>
                    <a:pt x="6166" y="1810"/>
                  </a:cubicBezTo>
                  <a:cubicBezTo>
                    <a:pt x="6131" y="1801"/>
                    <a:pt x="6092" y="1797"/>
                    <a:pt x="6057" y="1797"/>
                  </a:cubicBezTo>
                  <a:cubicBezTo>
                    <a:pt x="5901" y="1797"/>
                    <a:pt x="5762" y="1875"/>
                    <a:pt x="5671" y="2010"/>
                  </a:cubicBezTo>
                  <a:cubicBezTo>
                    <a:pt x="5636" y="2066"/>
                    <a:pt x="5597" y="2118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497" y="2101"/>
                    <a:pt x="5449" y="2036"/>
                    <a:pt x="5406" y="1975"/>
                  </a:cubicBezTo>
                  <a:cubicBezTo>
                    <a:pt x="5328" y="1853"/>
                    <a:pt x="5215" y="1784"/>
                    <a:pt x="5080" y="1784"/>
                  </a:cubicBezTo>
                  <a:cubicBezTo>
                    <a:pt x="5045" y="1784"/>
                    <a:pt x="5011" y="1793"/>
                    <a:pt x="4976" y="1801"/>
                  </a:cubicBezTo>
                  <a:cubicBezTo>
                    <a:pt x="4850" y="1836"/>
                    <a:pt x="4707" y="1953"/>
                    <a:pt x="4707" y="2170"/>
                  </a:cubicBezTo>
                  <a:cubicBezTo>
                    <a:pt x="4698" y="2240"/>
                    <a:pt x="4694" y="2309"/>
                    <a:pt x="4689" y="2374"/>
                  </a:cubicBezTo>
                  <a:cubicBezTo>
                    <a:pt x="4685" y="2483"/>
                    <a:pt x="4676" y="2582"/>
                    <a:pt x="4663" y="2674"/>
                  </a:cubicBezTo>
                  <a:cubicBezTo>
                    <a:pt x="4641" y="2782"/>
                    <a:pt x="4624" y="2886"/>
                    <a:pt x="4585" y="2973"/>
                  </a:cubicBezTo>
                  <a:cubicBezTo>
                    <a:pt x="4568" y="2921"/>
                    <a:pt x="4555" y="2865"/>
                    <a:pt x="4542" y="2795"/>
                  </a:cubicBezTo>
                  <a:cubicBezTo>
                    <a:pt x="4498" y="2530"/>
                    <a:pt x="4298" y="2435"/>
                    <a:pt x="4146" y="2435"/>
                  </a:cubicBezTo>
                  <a:cubicBezTo>
                    <a:pt x="4086" y="2435"/>
                    <a:pt x="4025" y="2448"/>
                    <a:pt x="3955" y="2474"/>
                  </a:cubicBezTo>
                  <a:cubicBezTo>
                    <a:pt x="3920" y="2491"/>
                    <a:pt x="3899" y="2491"/>
                    <a:pt x="3894" y="2491"/>
                  </a:cubicBezTo>
                  <a:cubicBezTo>
                    <a:pt x="3886" y="2491"/>
                    <a:pt x="3868" y="2478"/>
                    <a:pt x="3842" y="2439"/>
                  </a:cubicBezTo>
                  <a:cubicBezTo>
                    <a:pt x="3812" y="2391"/>
                    <a:pt x="3777" y="2344"/>
                    <a:pt x="3747" y="2296"/>
                  </a:cubicBezTo>
                  <a:cubicBezTo>
                    <a:pt x="3725" y="2261"/>
                    <a:pt x="3703" y="2227"/>
                    <a:pt x="3677" y="2192"/>
                  </a:cubicBezTo>
                  <a:cubicBezTo>
                    <a:pt x="3651" y="2157"/>
                    <a:pt x="3629" y="2118"/>
                    <a:pt x="3603" y="2083"/>
                  </a:cubicBezTo>
                  <a:cubicBezTo>
                    <a:pt x="3599" y="2079"/>
                    <a:pt x="3599" y="2079"/>
                    <a:pt x="3599" y="2079"/>
                  </a:cubicBezTo>
                  <a:cubicBezTo>
                    <a:pt x="3504" y="1931"/>
                    <a:pt x="3404" y="1780"/>
                    <a:pt x="3286" y="1636"/>
                  </a:cubicBezTo>
                  <a:cubicBezTo>
                    <a:pt x="3282" y="1636"/>
                    <a:pt x="3282" y="1636"/>
                    <a:pt x="3282" y="1636"/>
                  </a:cubicBezTo>
                  <a:cubicBezTo>
                    <a:pt x="3182" y="1493"/>
                    <a:pt x="3056" y="1463"/>
                    <a:pt x="2965" y="1463"/>
                  </a:cubicBezTo>
                  <a:cubicBezTo>
                    <a:pt x="2913" y="1463"/>
                    <a:pt x="2861" y="1471"/>
                    <a:pt x="2809" y="1497"/>
                  </a:cubicBezTo>
                  <a:cubicBezTo>
                    <a:pt x="2661" y="1567"/>
                    <a:pt x="2544" y="1736"/>
                    <a:pt x="2613" y="1966"/>
                  </a:cubicBezTo>
                  <a:cubicBezTo>
                    <a:pt x="2626" y="2018"/>
                    <a:pt x="2635" y="2070"/>
                    <a:pt x="2648" y="2118"/>
                  </a:cubicBezTo>
                  <a:cubicBezTo>
                    <a:pt x="2665" y="2187"/>
                    <a:pt x="2678" y="2261"/>
                    <a:pt x="2696" y="2331"/>
                  </a:cubicBezTo>
                  <a:cubicBezTo>
                    <a:pt x="2730" y="2491"/>
                    <a:pt x="2683" y="2535"/>
                    <a:pt x="2613" y="2578"/>
                  </a:cubicBezTo>
                  <a:cubicBezTo>
                    <a:pt x="2587" y="2595"/>
                    <a:pt x="2565" y="2613"/>
                    <a:pt x="2552" y="2622"/>
                  </a:cubicBezTo>
                  <a:cubicBezTo>
                    <a:pt x="2552" y="2626"/>
                    <a:pt x="2552" y="2626"/>
                    <a:pt x="2552" y="2626"/>
                  </a:cubicBezTo>
                  <a:cubicBezTo>
                    <a:pt x="2548" y="2626"/>
                    <a:pt x="2548" y="2626"/>
                    <a:pt x="2548" y="2626"/>
                  </a:cubicBezTo>
                  <a:cubicBezTo>
                    <a:pt x="2366" y="2760"/>
                    <a:pt x="2287" y="2973"/>
                    <a:pt x="2340" y="3199"/>
                  </a:cubicBezTo>
                  <a:cubicBezTo>
                    <a:pt x="2357" y="3264"/>
                    <a:pt x="2361" y="3333"/>
                    <a:pt x="2361" y="3403"/>
                  </a:cubicBezTo>
                  <a:cubicBezTo>
                    <a:pt x="2292" y="3394"/>
                    <a:pt x="2214" y="3372"/>
                    <a:pt x="2127" y="3346"/>
                  </a:cubicBezTo>
                  <a:cubicBezTo>
                    <a:pt x="2105" y="3342"/>
                    <a:pt x="2075" y="3333"/>
                    <a:pt x="2044" y="3325"/>
                  </a:cubicBezTo>
                  <a:cubicBezTo>
                    <a:pt x="2023" y="3316"/>
                    <a:pt x="1975" y="3299"/>
                    <a:pt x="1910" y="3299"/>
                  </a:cubicBezTo>
                  <a:cubicBezTo>
                    <a:pt x="1779" y="3299"/>
                    <a:pt x="1662" y="3364"/>
                    <a:pt x="1592" y="3472"/>
                  </a:cubicBezTo>
                  <a:cubicBezTo>
                    <a:pt x="1523" y="3589"/>
                    <a:pt x="1493" y="3780"/>
                    <a:pt x="1653" y="3950"/>
                  </a:cubicBezTo>
                  <a:cubicBezTo>
                    <a:pt x="1658" y="3950"/>
                    <a:pt x="1658" y="3950"/>
                    <a:pt x="1658" y="3950"/>
                  </a:cubicBezTo>
                  <a:cubicBezTo>
                    <a:pt x="1688" y="3984"/>
                    <a:pt x="1719" y="4019"/>
                    <a:pt x="1749" y="4049"/>
                  </a:cubicBezTo>
                  <a:cubicBezTo>
                    <a:pt x="1801" y="4102"/>
                    <a:pt x="1849" y="4158"/>
                    <a:pt x="1896" y="4210"/>
                  </a:cubicBezTo>
                  <a:cubicBezTo>
                    <a:pt x="2057" y="4392"/>
                    <a:pt x="2227" y="4579"/>
                    <a:pt x="2318" y="4796"/>
                  </a:cubicBezTo>
                  <a:cubicBezTo>
                    <a:pt x="2309" y="4796"/>
                    <a:pt x="2305" y="4796"/>
                    <a:pt x="2296" y="4796"/>
                  </a:cubicBezTo>
                  <a:cubicBezTo>
                    <a:pt x="2157" y="4796"/>
                    <a:pt x="2014" y="4774"/>
                    <a:pt x="1862" y="4748"/>
                  </a:cubicBezTo>
                  <a:cubicBezTo>
                    <a:pt x="1840" y="4744"/>
                    <a:pt x="1818" y="4740"/>
                    <a:pt x="1797" y="4740"/>
                  </a:cubicBezTo>
                  <a:cubicBezTo>
                    <a:pt x="1792" y="4735"/>
                    <a:pt x="1792" y="4735"/>
                    <a:pt x="1792" y="4735"/>
                  </a:cubicBezTo>
                  <a:cubicBezTo>
                    <a:pt x="1762" y="4731"/>
                    <a:pt x="1714" y="4718"/>
                    <a:pt x="1653" y="4718"/>
                  </a:cubicBezTo>
                  <a:cubicBezTo>
                    <a:pt x="1514" y="4718"/>
                    <a:pt x="1388" y="4787"/>
                    <a:pt x="1314" y="4900"/>
                  </a:cubicBezTo>
                  <a:cubicBezTo>
                    <a:pt x="1215" y="5056"/>
                    <a:pt x="1236" y="5239"/>
                    <a:pt x="1367" y="5399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558" y="5681"/>
                    <a:pt x="1792" y="5938"/>
                    <a:pt x="2096" y="6220"/>
                  </a:cubicBezTo>
                  <a:cubicBezTo>
                    <a:pt x="2348" y="6450"/>
                    <a:pt x="2630" y="6593"/>
                    <a:pt x="2939" y="6641"/>
                  </a:cubicBezTo>
                  <a:cubicBezTo>
                    <a:pt x="2335" y="7131"/>
                    <a:pt x="1662" y="7574"/>
                    <a:pt x="898" y="7990"/>
                  </a:cubicBezTo>
                  <a:cubicBezTo>
                    <a:pt x="845" y="8021"/>
                    <a:pt x="672" y="8112"/>
                    <a:pt x="628" y="8316"/>
                  </a:cubicBezTo>
                  <a:cubicBezTo>
                    <a:pt x="589" y="8516"/>
                    <a:pt x="707" y="8672"/>
                    <a:pt x="741" y="8720"/>
                  </a:cubicBezTo>
                  <a:cubicBezTo>
                    <a:pt x="828" y="8828"/>
                    <a:pt x="941" y="8889"/>
                    <a:pt x="1067" y="8889"/>
                  </a:cubicBezTo>
                  <a:cubicBezTo>
                    <a:pt x="1202" y="8889"/>
                    <a:pt x="1328" y="8815"/>
                    <a:pt x="1406" y="8689"/>
                  </a:cubicBezTo>
                  <a:cubicBezTo>
                    <a:pt x="1414" y="8672"/>
                    <a:pt x="1441" y="8641"/>
                    <a:pt x="1510" y="8598"/>
                  </a:cubicBezTo>
                  <a:cubicBezTo>
                    <a:pt x="1762" y="8429"/>
                    <a:pt x="1992" y="8281"/>
                    <a:pt x="2222" y="8129"/>
                  </a:cubicBezTo>
                  <a:cubicBezTo>
                    <a:pt x="2626" y="7860"/>
                    <a:pt x="3052" y="7565"/>
                    <a:pt x="3469" y="7231"/>
                  </a:cubicBezTo>
                  <a:cubicBezTo>
                    <a:pt x="3499" y="7331"/>
                    <a:pt x="3547" y="7435"/>
                    <a:pt x="3608" y="7535"/>
                  </a:cubicBezTo>
                  <a:cubicBezTo>
                    <a:pt x="3682" y="7652"/>
                    <a:pt x="3769" y="7765"/>
                    <a:pt x="3877" y="7886"/>
                  </a:cubicBezTo>
                  <a:cubicBezTo>
                    <a:pt x="4320" y="8368"/>
                    <a:pt x="4850" y="8672"/>
                    <a:pt x="5449" y="8780"/>
                  </a:cubicBezTo>
                  <a:cubicBezTo>
                    <a:pt x="5449" y="8780"/>
                    <a:pt x="5449" y="8780"/>
                    <a:pt x="5454" y="8780"/>
                  </a:cubicBezTo>
                  <a:cubicBezTo>
                    <a:pt x="5454" y="8780"/>
                    <a:pt x="5454" y="8780"/>
                    <a:pt x="5454" y="8780"/>
                  </a:cubicBezTo>
                  <a:cubicBezTo>
                    <a:pt x="5475" y="8785"/>
                    <a:pt x="5514" y="8793"/>
                    <a:pt x="5562" y="8793"/>
                  </a:cubicBezTo>
                  <a:cubicBezTo>
                    <a:pt x="5649" y="8793"/>
                    <a:pt x="5727" y="8767"/>
                    <a:pt x="5801" y="8724"/>
                  </a:cubicBezTo>
                  <a:cubicBezTo>
                    <a:pt x="5905" y="8650"/>
                    <a:pt x="5905" y="8650"/>
                    <a:pt x="5905" y="8650"/>
                  </a:cubicBezTo>
                  <a:cubicBezTo>
                    <a:pt x="5970" y="8611"/>
                    <a:pt x="5996" y="8533"/>
                    <a:pt x="5975" y="8459"/>
                  </a:cubicBezTo>
                  <a:cubicBezTo>
                    <a:pt x="5940" y="8333"/>
                    <a:pt x="5940" y="8333"/>
                    <a:pt x="5940" y="8333"/>
                  </a:cubicBezTo>
                  <a:cubicBezTo>
                    <a:pt x="5905" y="8212"/>
                    <a:pt x="5823" y="8138"/>
                    <a:pt x="5792" y="8112"/>
                  </a:cubicBezTo>
                  <a:cubicBezTo>
                    <a:pt x="5792" y="8112"/>
                    <a:pt x="5792" y="8112"/>
                    <a:pt x="5792" y="8112"/>
                  </a:cubicBezTo>
                  <a:cubicBezTo>
                    <a:pt x="5692" y="8012"/>
                    <a:pt x="5627" y="7930"/>
                    <a:pt x="5593" y="7843"/>
                  </a:cubicBezTo>
                  <a:cubicBezTo>
                    <a:pt x="5540" y="7730"/>
                    <a:pt x="5571" y="7691"/>
                    <a:pt x="5584" y="7669"/>
                  </a:cubicBezTo>
                  <a:cubicBezTo>
                    <a:pt x="5619" y="7617"/>
                    <a:pt x="5640" y="7595"/>
                    <a:pt x="5653" y="7587"/>
                  </a:cubicBezTo>
                  <a:cubicBezTo>
                    <a:pt x="5662" y="7587"/>
                    <a:pt x="5679" y="7591"/>
                    <a:pt x="5706" y="7600"/>
                  </a:cubicBezTo>
                  <a:cubicBezTo>
                    <a:pt x="5740" y="7617"/>
                    <a:pt x="5775" y="7630"/>
                    <a:pt x="5814" y="7643"/>
                  </a:cubicBezTo>
                  <a:cubicBezTo>
                    <a:pt x="5844" y="7656"/>
                    <a:pt x="5871" y="7665"/>
                    <a:pt x="5901" y="7678"/>
                  </a:cubicBezTo>
                  <a:cubicBezTo>
                    <a:pt x="6096" y="7756"/>
                    <a:pt x="6283" y="7791"/>
                    <a:pt x="6470" y="7791"/>
                  </a:cubicBezTo>
                  <a:cubicBezTo>
                    <a:pt x="6535" y="7791"/>
                    <a:pt x="6596" y="7787"/>
                    <a:pt x="6657" y="7778"/>
                  </a:cubicBezTo>
                  <a:cubicBezTo>
                    <a:pt x="6683" y="7778"/>
                    <a:pt x="6700" y="7773"/>
                    <a:pt x="6718" y="7773"/>
                  </a:cubicBezTo>
                  <a:cubicBezTo>
                    <a:pt x="6748" y="7773"/>
                    <a:pt x="6748" y="7778"/>
                    <a:pt x="6757" y="7787"/>
                  </a:cubicBezTo>
                  <a:cubicBezTo>
                    <a:pt x="6843" y="7886"/>
                    <a:pt x="6952" y="7960"/>
                    <a:pt x="7091" y="8021"/>
                  </a:cubicBezTo>
                  <a:cubicBezTo>
                    <a:pt x="7486" y="8186"/>
                    <a:pt x="7486" y="8186"/>
                    <a:pt x="7486" y="8186"/>
                  </a:cubicBezTo>
                  <a:cubicBezTo>
                    <a:pt x="7508" y="8194"/>
                    <a:pt x="7534" y="8199"/>
                    <a:pt x="7556" y="8199"/>
                  </a:cubicBezTo>
                  <a:cubicBezTo>
                    <a:pt x="7599" y="8199"/>
                    <a:pt x="7647" y="8181"/>
                    <a:pt x="7677" y="8147"/>
                  </a:cubicBezTo>
                  <a:cubicBezTo>
                    <a:pt x="7729" y="8099"/>
                    <a:pt x="7742" y="8021"/>
                    <a:pt x="7716" y="7956"/>
                  </a:cubicBezTo>
                  <a:cubicBezTo>
                    <a:pt x="7547" y="7561"/>
                    <a:pt x="7547" y="7561"/>
                    <a:pt x="7547" y="7561"/>
                  </a:cubicBezTo>
                  <a:cubicBezTo>
                    <a:pt x="7530" y="7522"/>
                    <a:pt x="7530" y="7522"/>
                    <a:pt x="7530" y="7522"/>
                  </a:cubicBezTo>
                  <a:cubicBezTo>
                    <a:pt x="7499" y="7457"/>
                    <a:pt x="7477" y="7405"/>
                    <a:pt x="7464" y="7361"/>
                  </a:cubicBezTo>
                  <a:cubicBezTo>
                    <a:pt x="7425" y="7218"/>
                    <a:pt x="7460" y="7148"/>
                    <a:pt x="7599" y="7096"/>
                  </a:cubicBezTo>
                  <a:cubicBezTo>
                    <a:pt x="7664" y="7070"/>
                    <a:pt x="7751" y="7062"/>
                    <a:pt x="7834" y="7057"/>
                  </a:cubicBezTo>
                  <a:cubicBezTo>
                    <a:pt x="7951" y="7049"/>
                    <a:pt x="8094" y="7036"/>
                    <a:pt x="8211" y="6918"/>
                  </a:cubicBezTo>
                  <a:cubicBezTo>
                    <a:pt x="8342" y="6784"/>
                    <a:pt x="8338" y="6615"/>
                    <a:pt x="8333" y="6510"/>
                  </a:cubicBezTo>
                  <a:cubicBezTo>
                    <a:pt x="8333" y="6506"/>
                    <a:pt x="8333" y="6502"/>
                    <a:pt x="8333" y="6502"/>
                  </a:cubicBezTo>
                  <a:cubicBezTo>
                    <a:pt x="8338" y="6497"/>
                    <a:pt x="8342" y="6493"/>
                    <a:pt x="8355" y="6484"/>
                  </a:cubicBezTo>
                  <a:cubicBezTo>
                    <a:pt x="8385" y="6463"/>
                    <a:pt x="8442" y="6437"/>
                    <a:pt x="8576" y="6428"/>
                  </a:cubicBezTo>
                  <a:cubicBezTo>
                    <a:pt x="8589" y="6428"/>
                    <a:pt x="8607" y="6428"/>
                    <a:pt x="8624" y="6428"/>
                  </a:cubicBezTo>
                  <a:cubicBezTo>
                    <a:pt x="8720" y="6428"/>
                    <a:pt x="8824" y="6441"/>
                    <a:pt x="8911" y="6454"/>
                  </a:cubicBezTo>
                  <a:cubicBezTo>
                    <a:pt x="8932" y="6463"/>
                    <a:pt x="8972" y="6471"/>
                    <a:pt x="9019" y="6471"/>
                  </a:cubicBezTo>
                  <a:cubicBezTo>
                    <a:pt x="9154" y="6471"/>
                    <a:pt x="9276" y="6398"/>
                    <a:pt x="9341" y="6280"/>
                  </a:cubicBezTo>
                  <a:cubicBezTo>
                    <a:pt x="9406" y="6163"/>
                    <a:pt x="9428" y="5981"/>
                    <a:pt x="9276" y="5820"/>
                  </a:cubicBezTo>
                  <a:cubicBezTo>
                    <a:pt x="9276" y="5816"/>
                    <a:pt x="9276" y="5816"/>
                    <a:pt x="9276" y="5816"/>
                  </a:cubicBezTo>
                  <a:cubicBezTo>
                    <a:pt x="9215" y="5746"/>
                    <a:pt x="9145" y="5699"/>
                    <a:pt x="9085" y="5660"/>
                  </a:cubicBezTo>
                  <a:cubicBezTo>
                    <a:pt x="8928" y="5560"/>
                    <a:pt x="8772" y="5490"/>
                    <a:pt x="8620" y="5430"/>
                  </a:cubicBezTo>
                  <a:cubicBezTo>
                    <a:pt x="8576" y="5408"/>
                    <a:pt x="8529" y="5391"/>
                    <a:pt x="8490" y="5373"/>
                  </a:cubicBezTo>
                  <a:cubicBezTo>
                    <a:pt x="8468" y="5360"/>
                    <a:pt x="8446" y="5352"/>
                    <a:pt x="8424" y="5343"/>
                  </a:cubicBezTo>
                  <a:cubicBezTo>
                    <a:pt x="8255" y="5269"/>
                    <a:pt x="8090" y="5195"/>
                    <a:pt x="7955" y="5100"/>
                  </a:cubicBezTo>
                  <a:cubicBezTo>
                    <a:pt x="7960" y="4996"/>
                    <a:pt x="7929" y="4900"/>
                    <a:pt x="7868" y="4822"/>
                  </a:cubicBezTo>
                  <a:cubicBezTo>
                    <a:pt x="7816" y="4757"/>
                    <a:pt x="7716" y="4674"/>
                    <a:pt x="7543" y="4666"/>
                  </a:cubicBezTo>
                  <a:cubicBezTo>
                    <a:pt x="7530" y="4666"/>
                    <a:pt x="7512" y="4666"/>
                    <a:pt x="7499" y="4666"/>
                  </a:cubicBezTo>
                  <a:cubicBezTo>
                    <a:pt x="7421" y="4666"/>
                    <a:pt x="7352" y="4674"/>
                    <a:pt x="7291" y="4683"/>
                  </a:cubicBezTo>
                  <a:cubicBezTo>
                    <a:pt x="7291" y="4683"/>
                    <a:pt x="7291" y="4683"/>
                    <a:pt x="7291" y="4683"/>
                  </a:cubicBezTo>
                  <a:cubicBezTo>
                    <a:pt x="7269" y="4688"/>
                    <a:pt x="7247" y="4688"/>
                    <a:pt x="7230" y="4692"/>
                  </a:cubicBezTo>
                  <a:cubicBezTo>
                    <a:pt x="7208" y="4692"/>
                    <a:pt x="7187" y="4696"/>
                    <a:pt x="7165" y="4696"/>
                  </a:cubicBezTo>
                  <a:cubicBezTo>
                    <a:pt x="7117" y="4705"/>
                    <a:pt x="7074" y="4709"/>
                    <a:pt x="7035" y="4709"/>
                  </a:cubicBezTo>
                  <a:cubicBezTo>
                    <a:pt x="7043" y="4696"/>
                    <a:pt x="7052" y="4679"/>
                    <a:pt x="7065" y="4661"/>
                  </a:cubicBezTo>
                  <a:cubicBezTo>
                    <a:pt x="7230" y="4397"/>
                    <a:pt x="7443" y="4167"/>
                    <a:pt x="7647" y="3954"/>
                  </a:cubicBezTo>
                  <a:cubicBezTo>
                    <a:pt x="7703" y="3898"/>
                    <a:pt x="7760" y="3837"/>
                    <a:pt x="7812" y="3780"/>
                  </a:cubicBezTo>
                  <a:cubicBezTo>
                    <a:pt x="7816" y="3780"/>
                    <a:pt x="7816" y="3780"/>
                    <a:pt x="7816" y="3780"/>
                  </a:cubicBezTo>
                  <a:cubicBezTo>
                    <a:pt x="7838" y="3754"/>
                    <a:pt x="7864" y="3728"/>
                    <a:pt x="7890" y="3702"/>
                  </a:cubicBezTo>
                  <a:cubicBezTo>
                    <a:pt x="7894" y="3694"/>
                    <a:pt x="7899" y="3689"/>
                    <a:pt x="7903" y="3685"/>
                  </a:cubicBezTo>
                  <a:cubicBezTo>
                    <a:pt x="7955" y="3611"/>
                    <a:pt x="8116" y="3372"/>
                    <a:pt x="7986" y="3207"/>
                  </a:cubicBezTo>
                  <a:cubicBezTo>
                    <a:pt x="7951" y="3155"/>
                    <a:pt x="7886" y="3090"/>
                    <a:pt x="7747" y="3090"/>
                  </a:cubicBezTo>
                  <a:cubicBezTo>
                    <a:pt x="7643" y="3090"/>
                    <a:pt x="7538" y="3129"/>
                    <a:pt x="7512" y="3138"/>
                  </a:cubicBezTo>
                  <a:cubicBezTo>
                    <a:pt x="7412" y="3173"/>
                    <a:pt x="7352" y="3190"/>
                    <a:pt x="7291" y="3190"/>
                  </a:cubicBezTo>
                  <a:cubicBezTo>
                    <a:pt x="7286" y="3190"/>
                    <a:pt x="7282" y="3190"/>
                    <a:pt x="7278" y="3190"/>
                  </a:cubicBezTo>
                  <a:cubicBezTo>
                    <a:pt x="7273" y="3190"/>
                    <a:pt x="7256" y="3181"/>
                    <a:pt x="7239" y="3160"/>
                  </a:cubicBezTo>
                  <a:cubicBezTo>
                    <a:pt x="7221" y="3138"/>
                    <a:pt x="7217" y="3116"/>
                    <a:pt x="7217" y="3108"/>
                  </a:cubicBezTo>
                  <a:cubicBezTo>
                    <a:pt x="7221" y="3073"/>
                    <a:pt x="7252" y="3029"/>
                    <a:pt x="7330" y="2943"/>
                  </a:cubicBezTo>
                  <a:cubicBezTo>
                    <a:pt x="7382" y="2886"/>
                    <a:pt x="7499" y="2747"/>
                    <a:pt x="7464" y="2556"/>
                  </a:cubicBezTo>
                  <a:cubicBezTo>
                    <a:pt x="7438" y="2383"/>
                    <a:pt x="7308" y="2292"/>
                    <a:pt x="7230" y="2248"/>
                  </a:cubicBezTo>
                  <a:cubicBezTo>
                    <a:pt x="7265" y="2144"/>
                    <a:pt x="7304" y="2036"/>
                    <a:pt x="7339" y="1927"/>
                  </a:cubicBezTo>
                  <a:cubicBezTo>
                    <a:pt x="7339" y="1927"/>
                    <a:pt x="7339" y="1927"/>
                    <a:pt x="7339" y="1927"/>
                  </a:cubicBezTo>
                  <a:cubicBezTo>
                    <a:pt x="7365" y="1849"/>
                    <a:pt x="7386" y="1775"/>
                    <a:pt x="7412" y="1701"/>
                  </a:cubicBezTo>
                  <a:cubicBezTo>
                    <a:pt x="7430" y="1654"/>
                    <a:pt x="7438" y="1610"/>
                    <a:pt x="7447" y="1571"/>
                  </a:cubicBezTo>
                  <a:cubicBezTo>
                    <a:pt x="7447" y="1567"/>
                    <a:pt x="7447" y="1567"/>
                    <a:pt x="7447" y="1567"/>
                  </a:cubicBezTo>
                  <a:cubicBezTo>
                    <a:pt x="7473" y="1463"/>
                    <a:pt x="7456" y="1359"/>
                    <a:pt x="7399" y="1272"/>
                  </a:cubicBezTo>
                  <a:cubicBezTo>
                    <a:pt x="7343" y="1189"/>
                    <a:pt x="7256" y="1133"/>
                    <a:pt x="7156" y="1115"/>
                  </a:cubicBezTo>
                  <a:cubicBezTo>
                    <a:pt x="7139" y="1111"/>
                    <a:pt x="7117" y="1111"/>
                    <a:pt x="7095" y="111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21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3884" y="6232"/>
                  </a:moveTo>
                  <a:cubicBezTo>
                    <a:pt x="3684" y="6254"/>
                    <a:pt x="3484" y="6293"/>
                    <a:pt x="3280" y="6306"/>
                  </a:cubicBezTo>
                  <a:cubicBezTo>
                    <a:pt x="2911" y="6327"/>
                    <a:pt x="2602" y="6206"/>
                    <a:pt x="2333" y="5958"/>
                  </a:cubicBezTo>
                  <a:cubicBezTo>
                    <a:pt x="2081" y="5728"/>
                    <a:pt x="1851" y="5480"/>
                    <a:pt x="1655" y="5198"/>
                  </a:cubicBezTo>
                  <a:cubicBezTo>
                    <a:pt x="1634" y="5163"/>
                    <a:pt x="1581" y="5124"/>
                    <a:pt x="1607" y="5080"/>
                  </a:cubicBezTo>
                  <a:cubicBezTo>
                    <a:pt x="1638" y="5037"/>
                    <a:pt x="1694" y="5067"/>
                    <a:pt x="1738" y="5072"/>
                  </a:cubicBezTo>
                  <a:cubicBezTo>
                    <a:pt x="1938" y="5106"/>
                    <a:pt x="2137" y="5141"/>
                    <a:pt x="2342" y="5137"/>
                  </a:cubicBezTo>
                  <a:cubicBezTo>
                    <a:pt x="2654" y="5124"/>
                    <a:pt x="2767" y="4959"/>
                    <a:pt x="2650" y="4672"/>
                  </a:cubicBezTo>
                  <a:cubicBezTo>
                    <a:pt x="2537" y="4403"/>
                    <a:pt x="2350" y="4185"/>
                    <a:pt x="2159" y="3972"/>
                  </a:cubicBezTo>
                  <a:cubicBezTo>
                    <a:pt x="2077" y="3881"/>
                    <a:pt x="1994" y="3794"/>
                    <a:pt x="1911" y="3703"/>
                  </a:cubicBezTo>
                  <a:cubicBezTo>
                    <a:pt x="1898" y="3690"/>
                    <a:pt x="1877" y="3673"/>
                    <a:pt x="1890" y="3651"/>
                  </a:cubicBezTo>
                  <a:cubicBezTo>
                    <a:pt x="1903" y="3629"/>
                    <a:pt x="1929" y="3642"/>
                    <a:pt x="1951" y="3651"/>
                  </a:cubicBezTo>
                  <a:cubicBezTo>
                    <a:pt x="2077" y="3686"/>
                    <a:pt x="2203" y="3729"/>
                    <a:pt x="2337" y="3742"/>
                  </a:cubicBezTo>
                  <a:cubicBezTo>
                    <a:pt x="2559" y="3759"/>
                    <a:pt x="2702" y="3642"/>
                    <a:pt x="2711" y="3421"/>
                  </a:cubicBezTo>
                  <a:cubicBezTo>
                    <a:pt x="2715" y="3316"/>
                    <a:pt x="2702" y="3212"/>
                    <a:pt x="2680" y="3108"/>
                  </a:cubicBezTo>
                  <a:cubicBezTo>
                    <a:pt x="2659" y="3021"/>
                    <a:pt x="2685" y="2951"/>
                    <a:pt x="2759" y="2899"/>
                  </a:cubicBezTo>
                  <a:cubicBezTo>
                    <a:pt x="2772" y="2886"/>
                    <a:pt x="2785" y="2873"/>
                    <a:pt x="2802" y="2864"/>
                  </a:cubicBezTo>
                  <a:cubicBezTo>
                    <a:pt x="3032" y="2717"/>
                    <a:pt x="3089" y="2504"/>
                    <a:pt x="3037" y="2247"/>
                  </a:cubicBezTo>
                  <a:cubicBezTo>
                    <a:pt x="3010" y="2121"/>
                    <a:pt x="2980" y="2000"/>
                    <a:pt x="2954" y="1874"/>
                  </a:cubicBezTo>
                  <a:cubicBezTo>
                    <a:pt x="2950" y="1848"/>
                    <a:pt x="2928" y="1813"/>
                    <a:pt x="2958" y="1800"/>
                  </a:cubicBezTo>
                  <a:cubicBezTo>
                    <a:pt x="2984" y="1791"/>
                    <a:pt x="2997" y="1821"/>
                    <a:pt x="3015" y="1839"/>
                  </a:cubicBezTo>
                  <a:cubicBezTo>
                    <a:pt x="3154" y="2008"/>
                    <a:pt x="3271" y="2195"/>
                    <a:pt x="3393" y="2378"/>
                  </a:cubicBezTo>
                  <a:cubicBezTo>
                    <a:pt x="3449" y="2465"/>
                    <a:pt x="3501" y="2551"/>
                    <a:pt x="3562" y="2634"/>
                  </a:cubicBezTo>
                  <a:cubicBezTo>
                    <a:pt x="3706" y="2830"/>
                    <a:pt x="3866" y="2877"/>
                    <a:pt x="4088" y="2790"/>
                  </a:cubicBezTo>
                  <a:cubicBezTo>
                    <a:pt x="4162" y="2760"/>
                    <a:pt x="4188" y="2769"/>
                    <a:pt x="4201" y="2847"/>
                  </a:cubicBezTo>
                  <a:cubicBezTo>
                    <a:pt x="4222" y="2964"/>
                    <a:pt x="4253" y="3077"/>
                    <a:pt x="4301" y="3186"/>
                  </a:cubicBezTo>
                  <a:cubicBezTo>
                    <a:pt x="4344" y="3290"/>
                    <a:pt x="4401" y="3394"/>
                    <a:pt x="4531" y="3407"/>
                  </a:cubicBezTo>
                  <a:cubicBezTo>
                    <a:pt x="4661" y="3421"/>
                    <a:pt x="4757" y="3347"/>
                    <a:pt x="4826" y="3242"/>
                  </a:cubicBezTo>
                  <a:cubicBezTo>
                    <a:pt x="4935" y="3086"/>
                    <a:pt x="4974" y="2908"/>
                    <a:pt x="5009" y="2725"/>
                  </a:cubicBezTo>
                  <a:cubicBezTo>
                    <a:pt x="5039" y="2543"/>
                    <a:pt x="5035" y="2360"/>
                    <a:pt x="5056" y="2182"/>
                  </a:cubicBezTo>
                  <a:cubicBezTo>
                    <a:pt x="5056" y="2160"/>
                    <a:pt x="5048" y="2134"/>
                    <a:pt x="5074" y="2126"/>
                  </a:cubicBezTo>
                  <a:cubicBezTo>
                    <a:pt x="5100" y="2117"/>
                    <a:pt x="5109" y="2143"/>
                    <a:pt x="5122" y="2160"/>
                  </a:cubicBezTo>
                  <a:cubicBezTo>
                    <a:pt x="5182" y="2243"/>
                    <a:pt x="5243" y="2326"/>
                    <a:pt x="5317" y="2395"/>
                  </a:cubicBezTo>
                  <a:cubicBezTo>
                    <a:pt x="5456" y="2530"/>
                    <a:pt x="5630" y="2534"/>
                    <a:pt x="5782" y="2408"/>
                  </a:cubicBezTo>
                  <a:cubicBezTo>
                    <a:pt x="5851" y="2347"/>
                    <a:pt x="5908" y="2273"/>
                    <a:pt x="5960" y="2195"/>
                  </a:cubicBezTo>
                  <a:cubicBezTo>
                    <a:pt x="5995" y="2143"/>
                    <a:pt x="6034" y="2126"/>
                    <a:pt x="6099" y="2139"/>
                  </a:cubicBezTo>
                  <a:cubicBezTo>
                    <a:pt x="6273" y="2178"/>
                    <a:pt x="6425" y="2126"/>
                    <a:pt x="6559" y="2013"/>
                  </a:cubicBezTo>
                  <a:cubicBezTo>
                    <a:pt x="6742" y="1869"/>
                    <a:pt x="6885" y="1687"/>
                    <a:pt x="7033" y="1509"/>
                  </a:cubicBezTo>
                  <a:cubicBezTo>
                    <a:pt x="7046" y="1491"/>
                    <a:pt x="7059" y="1474"/>
                    <a:pt x="7072" y="1461"/>
                  </a:cubicBezTo>
                  <a:cubicBezTo>
                    <a:pt x="7081" y="1452"/>
                    <a:pt x="7094" y="1448"/>
                    <a:pt x="7103" y="1448"/>
                  </a:cubicBezTo>
                  <a:cubicBezTo>
                    <a:pt x="7120" y="1452"/>
                    <a:pt x="7115" y="1470"/>
                    <a:pt x="7111" y="1478"/>
                  </a:cubicBezTo>
                  <a:cubicBezTo>
                    <a:pt x="7103" y="1513"/>
                    <a:pt x="7098" y="1548"/>
                    <a:pt x="7085" y="1583"/>
                  </a:cubicBezTo>
                  <a:cubicBezTo>
                    <a:pt x="7024" y="1774"/>
                    <a:pt x="6955" y="1969"/>
                    <a:pt x="6894" y="2160"/>
                  </a:cubicBezTo>
                  <a:cubicBezTo>
                    <a:pt x="6833" y="2347"/>
                    <a:pt x="6872" y="2434"/>
                    <a:pt x="7037" y="2530"/>
                  </a:cubicBezTo>
                  <a:cubicBezTo>
                    <a:pt x="7150" y="2591"/>
                    <a:pt x="7155" y="2612"/>
                    <a:pt x="7068" y="2708"/>
                  </a:cubicBezTo>
                  <a:cubicBezTo>
                    <a:pt x="6981" y="2808"/>
                    <a:pt x="6894" y="2908"/>
                    <a:pt x="6877" y="3051"/>
                  </a:cubicBezTo>
                  <a:cubicBezTo>
                    <a:pt x="6842" y="3277"/>
                    <a:pt x="7033" y="3516"/>
                    <a:pt x="7263" y="3529"/>
                  </a:cubicBezTo>
                  <a:cubicBezTo>
                    <a:pt x="7393" y="3534"/>
                    <a:pt x="7515" y="3499"/>
                    <a:pt x="7641" y="3451"/>
                  </a:cubicBezTo>
                  <a:cubicBezTo>
                    <a:pt x="7559" y="3538"/>
                    <a:pt x="7480" y="3620"/>
                    <a:pt x="7402" y="3703"/>
                  </a:cubicBezTo>
                  <a:cubicBezTo>
                    <a:pt x="7172" y="3942"/>
                    <a:pt x="6951" y="4185"/>
                    <a:pt x="6772" y="4468"/>
                  </a:cubicBezTo>
                  <a:cubicBezTo>
                    <a:pt x="6733" y="4529"/>
                    <a:pt x="6698" y="4594"/>
                    <a:pt x="6677" y="4663"/>
                  </a:cubicBezTo>
                  <a:cubicBezTo>
                    <a:pt x="6620" y="4841"/>
                    <a:pt x="6716" y="4998"/>
                    <a:pt x="6898" y="5037"/>
                  </a:cubicBezTo>
                  <a:cubicBezTo>
                    <a:pt x="7024" y="5063"/>
                    <a:pt x="7146" y="5041"/>
                    <a:pt x="7268" y="5028"/>
                  </a:cubicBezTo>
                  <a:cubicBezTo>
                    <a:pt x="7354" y="5020"/>
                    <a:pt x="7441" y="5002"/>
                    <a:pt x="7528" y="5007"/>
                  </a:cubicBezTo>
                  <a:cubicBezTo>
                    <a:pt x="7589" y="5011"/>
                    <a:pt x="7619" y="5033"/>
                    <a:pt x="7611" y="5098"/>
                  </a:cubicBezTo>
                  <a:cubicBezTo>
                    <a:pt x="7589" y="5211"/>
                    <a:pt x="7641" y="5293"/>
                    <a:pt x="7732" y="5358"/>
                  </a:cubicBezTo>
                  <a:cubicBezTo>
                    <a:pt x="7919" y="5497"/>
                    <a:pt x="8136" y="5589"/>
                    <a:pt x="8349" y="5684"/>
                  </a:cubicBezTo>
                  <a:cubicBezTo>
                    <a:pt x="8536" y="5767"/>
                    <a:pt x="8727" y="5836"/>
                    <a:pt x="8901" y="5945"/>
                  </a:cubicBezTo>
                  <a:cubicBezTo>
                    <a:pt x="8944" y="5975"/>
                    <a:pt x="8983" y="6006"/>
                    <a:pt x="9018" y="6041"/>
                  </a:cubicBezTo>
                  <a:cubicBezTo>
                    <a:pt x="9036" y="6058"/>
                    <a:pt x="9057" y="6080"/>
                    <a:pt x="9044" y="6106"/>
                  </a:cubicBezTo>
                  <a:cubicBezTo>
                    <a:pt x="9031" y="6128"/>
                    <a:pt x="9005" y="6114"/>
                    <a:pt x="8983" y="6110"/>
                  </a:cubicBezTo>
                  <a:cubicBezTo>
                    <a:pt x="8844" y="6088"/>
                    <a:pt x="8701" y="6071"/>
                    <a:pt x="8558" y="6075"/>
                  </a:cubicBezTo>
                  <a:cubicBezTo>
                    <a:pt x="8414" y="6084"/>
                    <a:pt x="8280" y="6110"/>
                    <a:pt x="8158" y="6197"/>
                  </a:cubicBezTo>
                  <a:cubicBezTo>
                    <a:pt x="8045" y="6275"/>
                    <a:pt x="7984" y="6375"/>
                    <a:pt x="7989" y="6514"/>
                  </a:cubicBezTo>
                  <a:cubicBezTo>
                    <a:pt x="7993" y="6684"/>
                    <a:pt x="7980" y="6692"/>
                    <a:pt x="7811" y="6706"/>
                  </a:cubicBezTo>
                  <a:cubicBezTo>
                    <a:pt x="7698" y="6714"/>
                    <a:pt x="7585" y="6727"/>
                    <a:pt x="7480" y="6766"/>
                  </a:cubicBezTo>
                  <a:cubicBezTo>
                    <a:pt x="7172" y="6884"/>
                    <a:pt x="7046" y="7136"/>
                    <a:pt x="7133" y="7448"/>
                  </a:cubicBezTo>
                  <a:cubicBezTo>
                    <a:pt x="7155" y="7531"/>
                    <a:pt x="7189" y="7605"/>
                    <a:pt x="7228" y="7696"/>
                  </a:cubicBezTo>
                  <a:cubicBezTo>
                    <a:pt x="7137" y="7657"/>
                    <a:pt x="7068" y="7609"/>
                    <a:pt x="7020" y="7553"/>
                  </a:cubicBezTo>
                  <a:cubicBezTo>
                    <a:pt x="6907" y="7422"/>
                    <a:pt x="6768" y="7409"/>
                    <a:pt x="6616" y="7431"/>
                  </a:cubicBezTo>
                  <a:cubicBezTo>
                    <a:pt x="6412" y="7462"/>
                    <a:pt x="6221" y="7427"/>
                    <a:pt x="6034" y="7353"/>
                  </a:cubicBezTo>
                  <a:cubicBezTo>
                    <a:pt x="5969" y="7327"/>
                    <a:pt x="5904" y="7301"/>
                    <a:pt x="5838" y="7275"/>
                  </a:cubicBezTo>
                  <a:cubicBezTo>
                    <a:pt x="5604" y="7179"/>
                    <a:pt x="5456" y="7240"/>
                    <a:pt x="5300" y="7470"/>
                  </a:cubicBezTo>
                  <a:cubicBezTo>
                    <a:pt x="5187" y="7631"/>
                    <a:pt x="5200" y="7805"/>
                    <a:pt x="5274" y="7979"/>
                  </a:cubicBezTo>
                  <a:cubicBezTo>
                    <a:pt x="5339" y="8122"/>
                    <a:pt x="5439" y="8248"/>
                    <a:pt x="5552" y="8357"/>
                  </a:cubicBezTo>
                  <a:cubicBezTo>
                    <a:pt x="5573" y="8378"/>
                    <a:pt x="5599" y="8396"/>
                    <a:pt x="5608" y="8430"/>
                  </a:cubicBezTo>
                  <a:cubicBezTo>
                    <a:pt x="5578" y="8452"/>
                    <a:pt x="5543" y="8439"/>
                    <a:pt x="5513" y="8435"/>
                  </a:cubicBezTo>
                  <a:cubicBezTo>
                    <a:pt x="4961" y="8335"/>
                    <a:pt x="4509" y="8057"/>
                    <a:pt x="4136" y="7648"/>
                  </a:cubicBezTo>
                  <a:cubicBezTo>
                    <a:pt x="4049" y="7553"/>
                    <a:pt x="3971" y="7457"/>
                    <a:pt x="3905" y="7349"/>
                  </a:cubicBezTo>
                  <a:cubicBezTo>
                    <a:pt x="3762" y="7118"/>
                    <a:pt x="3749" y="6884"/>
                    <a:pt x="3862" y="6645"/>
                  </a:cubicBezTo>
                  <a:cubicBezTo>
                    <a:pt x="3888" y="6588"/>
                    <a:pt x="3918" y="6532"/>
                    <a:pt x="3944" y="6475"/>
                  </a:cubicBezTo>
                  <a:cubicBezTo>
                    <a:pt x="3962" y="6436"/>
                    <a:pt x="3984" y="6397"/>
                    <a:pt x="3966" y="6336"/>
                  </a:cubicBezTo>
                  <a:cubicBezTo>
                    <a:pt x="3901" y="6393"/>
                    <a:pt x="3840" y="6445"/>
                    <a:pt x="3779" y="6497"/>
                  </a:cubicBezTo>
                  <a:cubicBezTo>
                    <a:pt x="3241" y="7005"/>
                    <a:pt x="2646" y="7427"/>
                    <a:pt x="2033" y="7835"/>
                  </a:cubicBezTo>
                  <a:cubicBezTo>
                    <a:pt x="1794" y="7992"/>
                    <a:pt x="1555" y="8148"/>
                    <a:pt x="1321" y="8305"/>
                  </a:cubicBezTo>
                  <a:cubicBezTo>
                    <a:pt x="1238" y="8357"/>
                    <a:pt x="1164" y="8418"/>
                    <a:pt x="1112" y="8504"/>
                  </a:cubicBezTo>
                  <a:cubicBezTo>
                    <a:pt x="1082" y="8552"/>
                    <a:pt x="1056" y="8552"/>
                    <a:pt x="1021" y="8509"/>
                  </a:cubicBezTo>
                  <a:cubicBezTo>
                    <a:pt x="943" y="8404"/>
                    <a:pt x="952" y="8352"/>
                    <a:pt x="1069" y="8291"/>
                  </a:cubicBezTo>
                  <a:cubicBezTo>
                    <a:pt x="1994" y="7787"/>
                    <a:pt x="2863" y="7201"/>
                    <a:pt x="3645" y="6488"/>
                  </a:cubicBezTo>
                  <a:cubicBezTo>
                    <a:pt x="3732" y="6410"/>
                    <a:pt x="3823" y="6336"/>
                    <a:pt x="3884" y="6232"/>
                  </a:cubicBezTo>
                  <a:cubicBezTo>
                    <a:pt x="3927" y="6245"/>
                    <a:pt x="3957" y="6275"/>
                    <a:pt x="3988" y="6306"/>
                  </a:cubicBezTo>
                  <a:cubicBezTo>
                    <a:pt x="4236" y="6606"/>
                    <a:pt x="4457" y="6927"/>
                    <a:pt x="4631" y="7275"/>
                  </a:cubicBezTo>
                  <a:cubicBezTo>
                    <a:pt x="4683" y="7383"/>
                    <a:pt x="4739" y="7488"/>
                    <a:pt x="4800" y="7605"/>
                  </a:cubicBezTo>
                  <a:cubicBezTo>
                    <a:pt x="4805" y="7588"/>
                    <a:pt x="4805" y="7583"/>
                    <a:pt x="4805" y="7579"/>
                  </a:cubicBezTo>
                  <a:cubicBezTo>
                    <a:pt x="4613" y="7157"/>
                    <a:pt x="4422" y="6736"/>
                    <a:pt x="4136" y="6362"/>
                  </a:cubicBezTo>
                  <a:cubicBezTo>
                    <a:pt x="4123" y="6340"/>
                    <a:pt x="4092" y="6319"/>
                    <a:pt x="4105" y="6293"/>
                  </a:cubicBezTo>
                  <a:cubicBezTo>
                    <a:pt x="4123" y="6267"/>
                    <a:pt x="4153" y="6275"/>
                    <a:pt x="4179" y="6275"/>
                  </a:cubicBezTo>
                  <a:cubicBezTo>
                    <a:pt x="4831" y="6280"/>
                    <a:pt x="5478" y="6271"/>
                    <a:pt x="6125" y="6210"/>
                  </a:cubicBezTo>
                  <a:cubicBezTo>
                    <a:pt x="6416" y="6184"/>
                    <a:pt x="6707" y="6136"/>
                    <a:pt x="6998" y="6093"/>
                  </a:cubicBezTo>
                  <a:cubicBezTo>
                    <a:pt x="6963" y="6093"/>
                    <a:pt x="6929" y="6093"/>
                    <a:pt x="6894" y="6097"/>
                  </a:cubicBezTo>
                  <a:cubicBezTo>
                    <a:pt x="6473" y="6154"/>
                    <a:pt x="6051" y="6197"/>
                    <a:pt x="5630" y="6202"/>
                  </a:cubicBezTo>
                  <a:cubicBezTo>
                    <a:pt x="5143" y="6210"/>
                    <a:pt x="4661" y="6219"/>
                    <a:pt x="4175" y="6188"/>
                  </a:cubicBezTo>
                  <a:cubicBezTo>
                    <a:pt x="4153" y="6188"/>
                    <a:pt x="4123" y="6197"/>
                    <a:pt x="4109" y="6171"/>
                  </a:cubicBezTo>
                  <a:cubicBezTo>
                    <a:pt x="4096" y="6145"/>
                    <a:pt x="4123" y="6128"/>
                    <a:pt x="4140" y="6114"/>
                  </a:cubicBezTo>
                  <a:cubicBezTo>
                    <a:pt x="4618" y="5567"/>
                    <a:pt x="5065" y="4998"/>
                    <a:pt x="5465" y="4394"/>
                  </a:cubicBezTo>
                  <a:cubicBezTo>
                    <a:pt x="5604" y="4185"/>
                    <a:pt x="5734" y="3972"/>
                    <a:pt x="5851" y="3746"/>
                  </a:cubicBezTo>
                  <a:cubicBezTo>
                    <a:pt x="5834" y="3764"/>
                    <a:pt x="5817" y="3781"/>
                    <a:pt x="5808" y="3798"/>
                  </a:cubicBezTo>
                  <a:cubicBezTo>
                    <a:pt x="5313" y="4615"/>
                    <a:pt x="4713" y="5350"/>
                    <a:pt x="4075" y="6054"/>
                  </a:cubicBezTo>
                  <a:cubicBezTo>
                    <a:pt x="4057" y="6075"/>
                    <a:pt x="4040" y="6114"/>
                    <a:pt x="4010" y="6102"/>
                  </a:cubicBezTo>
                  <a:cubicBezTo>
                    <a:pt x="3979" y="6093"/>
                    <a:pt x="3984" y="6054"/>
                    <a:pt x="3975" y="6028"/>
                  </a:cubicBezTo>
                  <a:cubicBezTo>
                    <a:pt x="3840" y="5480"/>
                    <a:pt x="3710" y="4933"/>
                    <a:pt x="3601" y="4381"/>
                  </a:cubicBezTo>
                  <a:cubicBezTo>
                    <a:pt x="3562" y="4172"/>
                    <a:pt x="3519" y="3968"/>
                    <a:pt x="3480" y="3759"/>
                  </a:cubicBezTo>
                  <a:cubicBezTo>
                    <a:pt x="3523" y="4103"/>
                    <a:pt x="3579" y="4442"/>
                    <a:pt x="3640" y="4785"/>
                  </a:cubicBezTo>
                  <a:cubicBezTo>
                    <a:pt x="3714" y="5202"/>
                    <a:pt x="3801" y="5615"/>
                    <a:pt x="3888" y="6028"/>
                  </a:cubicBezTo>
                  <a:cubicBezTo>
                    <a:pt x="3892" y="6054"/>
                    <a:pt x="3914" y="6084"/>
                    <a:pt x="3888" y="6106"/>
                  </a:cubicBezTo>
                  <a:cubicBezTo>
                    <a:pt x="3866" y="6123"/>
                    <a:pt x="3840" y="6093"/>
                    <a:pt x="3819" y="6080"/>
                  </a:cubicBezTo>
                  <a:cubicBezTo>
                    <a:pt x="3632" y="5980"/>
                    <a:pt x="3454" y="5880"/>
                    <a:pt x="3267" y="5780"/>
                  </a:cubicBezTo>
                  <a:cubicBezTo>
                    <a:pt x="3054" y="5667"/>
                    <a:pt x="2837" y="5567"/>
                    <a:pt x="2611" y="5489"/>
                  </a:cubicBezTo>
                  <a:cubicBezTo>
                    <a:pt x="2854" y="5602"/>
                    <a:pt x="3089" y="5728"/>
                    <a:pt x="3319" y="5867"/>
                  </a:cubicBezTo>
                  <a:cubicBezTo>
                    <a:pt x="3510" y="5984"/>
                    <a:pt x="3710" y="6093"/>
                    <a:pt x="3884" y="623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22" name="TB122"/>
          <p:cNvSpPr txBox="1"/>
          <p:nvPr/>
        </p:nvSpPr>
        <p:spPr>
          <a:xfrm>
            <a:off x="1682495" y="2185416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03522D"/>
                </a:solidFill>
                <a:latin typeface="Trebuchet MS"/>
              </a:rPr>
              <a:t>Chemicals are being banned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682495" y="2496312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Rules like France's Loi Labbe forbid herbicide in public green spaces; organic forbids it too.</a:t>
            </a:r>
          </a:p>
        </p:txBody>
      </p:sp>
      <p:sp>
        <p:nvSpPr>
          <p:cNvPr id="124" name="RR124"/>
          <p:cNvSpPr/>
          <p:nvPr/>
        </p:nvSpPr>
        <p:spPr>
          <a:xfrm>
            <a:off x="630936" y="3194304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5" name="R125"/>
          <p:cNvSpPr/>
          <p:nvPr/>
        </p:nvSpPr>
        <p:spPr>
          <a:xfrm>
            <a:off x="630936" y="3194304"/>
            <a:ext cx="73152" cy="99060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26" name="O126"/>
          <p:cNvSpPr/>
          <p:nvPr/>
        </p:nvSpPr>
        <p:spPr>
          <a:xfrm>
            <a:off x="859536" y="3415284"/>
            <a:ext cx="548640" cy="548640"/>
          </a:xfrm>
          <a:prstGeom prst="ellipse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grpSp>
        <p:nvGrpSpPr>
          <p:cNvPr id="127" name="bcgIcons_Target">
            <a:extLst>
              <a:ext uri="{FF2B5EF4-FFF2-40B4-BE49-F238E27FC236}">
                <ns2:creationId id="{02916922-81B1-4399-BF36-3FC0C6969C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69264" y="3525012"/>
            <a:ext cx="347150" cy="347472"/>
            <a:chOff x="1682" y="0"/>
            <a:chExt cx="4316" cy="4320"/>
          </a:xfrm>
        </p:grpSpPr>
        <p:sp>
          <p:nvSpPr>
            <p:cNvPr id="128" name="AutoShape 23">
              <a:extLst>
                <a:ext uri="{FF2B5EF4-FFF2-40B4-BE49-F238E27FC236}">
                  <ns2:creationId id="{89F4D31F-87B6-4E69-917E-65E2F97982B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682" y="0"/>
              <a:ext cx="4316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rgbClr val="FFFFFF"/>
                  </a:solidFill>
                </ns3:hiddenFill>
              </a:ext>
              <a:ext uri="{91240B29-F687-4F45-9708-019B960494DF}">
                <ns3:hiddenLine w="9525">
                  <a:solidFill>
                    <a:srgbClr val="FFFFFF"/>
                  </a:solidFill>
                  <a:miter lim="800000"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9" name="Freeform 25">
              <a:extLst>
                <a:ext uri="{FF2B5EF4-FFF2-40B4-BE49-F238E27FC236}">
                  <ns2:creationId id="{FA0FD38E-7CA9-4ECE-9013-798D4E40C5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838"/>
              <a:ext cx="1832" cy="1367"/>
            </a:xfrm>
            <a:custGeom>
              <a:avLst/>
              <a:gdLst>
                <a:gd name="T0" fmla="*/ 25 w 978"/>
                <a:gd name="T1" fmla="*/ 729 h 729"/>
                <a:gd name="T2" fmla="*/ 7 w 978"/>
                <a:gd name="T3" fmla="*/ 719 h 729"/>
                <a:gd name="T4" fmla="*/ 13 w 978"/>
                <a:gd name="T5" fmla="*/ 689 h 729"/>
                <a:gd name="T6" fmla="*/ 888 w 978"/>
                <a:gd name="T7" fmla="*/ 86 h 729"/>
                <a:gd name="T8" fmla="*/ 919 w 978"/>
                <a:gd name="T9" fmla="*/ 91 h 729"/>
                <a:gd name="T10" fmla="*/ 913 w 978"/>
                <a:gd name="T11" fmla="*/ 122 h 729"/>
                <a:gd name="T12" fmla="*/ 38 w 978"/>
                <a:gd name="T13" fmla="*/ 725 h 729"/>
                <a:gd name="T14" fmla="*/ 25 w 978"/>
                <a:gd name="T15" fmla="*/ 729 h 729"/>
                <a:gd name="T16" fmla="*/ 578 w 978"/>
                <a:gd name="T17" fmla="*/ 254 h 729"/>
                <a:gd name="T18" fmla="*/ 586 w 978"/>
                <a:gd name="T19" fmla="*/ 258 h 729"/>
                <a:gd name="T20" fmla="*/ 825 w 978"/>
                <a:gd name="T21" fmla="*/ 93 h 729"/>
                <a:gd name="T22" fmla="*/ 826 w 978"/>
                <a:gd name="T23" fmla="*/ 91 h 729"/>
                <a:gd name="T24" fmla="*/ 849 w 978"/>
                <a:gd name="T25" fmla="*/ 8 h 729"/>
                <a:gd name="T26" fmla="*/ 841 w 978"/>
                <a:gd name="T27" fmla="*/ 3 h 729"/>
                <a:gd name="T28" fmla="*/ 602 w 978"/>
                <a:gd name="T29" fmla="*/ 166 h 729"/>
                <a:gd name="T30" fmla="*/ 599 w 978"/>
                <a:gd name="T31" fmla="*/ 171 h 729"/>
                <a:gd name="T32" fmla="*/ 578 w 978"/>
                <a:gd name="T33" fmla="*/ 254 h 729"/>
                <a:gd name="T34" fmla="*/ 646 w 978"/>
                <a:gd name="T35" fmla="*/ 352 h 729"/>
                <a:gd name="T36" fmla="*/ 730 w 978"/>
                <a:gd name="T37" fmla="*/ 362 h 729"/>
                <a:gd name="T38" fmla="*/ 736 w 978"/>
                <a:gd name="T39" fmla="*/ 361 h 729"/>
                <a:gd name="T40" fmla="*/ 974 w 978"/>
                <a:gd name="T41" fmla="*/ 196 h 729"/>
                <a:gd name="T42" fmla="*/ 972 w 978"/>
                <a:gd name="T43" fmla="*/ 187 h 729"/>
                <a:gd name="T44" fmla="*/ 886 w 978"/>
                <a:gd name="T45" fmla="*/ 179 h 729"/>
                <a:gd name="T46" fmla="*/ 884 w 978"/>
                <a:gd name="T47" fmla="*/ 179 h 729"/>
                <a:gd name="T48" fmla="*/ 644 w 978"/>
                <a:gd name="T49" fmla="*/ 343 h 729"/>
                <a:gd name="T50" fmla="*/ 646 w 978"/>
                <a:gd name="T51" fmla="*/ 352 h 7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978" h="729">
                  <a:moveTo>
                    <a:pt x="25" y="729"/>
                  </a:moveTo>
                  <a:cubicBezTo>
                    <a:pt x="18" y="729"/>
                    <a:pt x="11" y="726"/>
                    <a:pt x="7" y="719"/>
                  </a:cubicBezTo>
                  <a:cubicBezTo>
                    <a:pt x="0" y="709"/>
                    <a:pt x="3" y="696"/>
                    <a:pt x="13" y="689"/>
                  </a:cubicBezTo>
                  <a:cubicBezTo>
                    <a:pt x="888" y="86"/>
                    <a:pt x="888" y="86"/>
                    <a:pt x="888" y="86"/>
                  </a:cubicBezTo>
                  <a:cubicBezTo>
                    <a:pt x="898" y="79"/>
                    <a:pt x="912" y="81"/>
                    <a:pt x="919" y="91"/>
                  </a:cubicBezTo>
                  <a:cubicBezTo>
                    <a:pt x="926" y="101"/>
                    <a:pt x="923" y="115"/>
                    <a:pt x="913" y="122"/>
                  </a:cubicBezTo>
                  <a:cubicBezTo>
                    <a:pt x="38" y="725"/>
                    <a:pt x="38" y="725"/>
                    <a:pt x="38" y="725"/>
                  </a:cubicBezTo>
                  <a:cubicBezTo>
                    <a:pt x="34" y="728"/>
                    <a:pt x="30" y="729"/>
                    <a:pt x="25" y="729"/>
                  </a:cubicBezTo>
                  <a:close/>
                  <a:moveTo>
                    <a:pt x="578" y="254"/>
                  </a:moveTo>
                  <a:cubicBezTo>
                    <a:pt x="577" y="258"/>
                    <a:pt x="582" y="259"/>
                    <a:pt x="586" y="258"/>
                  </a:cubicBezTo>
                  <a:cubicBezTo>
                    <a:pt x="586" y="258"/>
                    <a:pt x="586" y="258"/>
                    <a:pt x="825" y="93"/>
                  </a:cubicBezTo>
                  <a:cubicBezTo>
                    <a:pt x="826" y="93"/>
                    <a:pt x="826" y="93"/>
                    <a:pt x="826" y="91"/>
                  </a:cubicBezTo>
                  <a:cubicBezTo>
                    <a:pt x="826" y="91"/>
                    <a:pt x="826" y="91"/>
                    <a:pt x="849" y="8"/>
                  </a:cubicBezTo>
                  <a:cubicBezTo>
                    <a:pt x="850" y="3"/>
                    <a:pt x="845" y="0"/>
                    <a:pt x="841" y="3"/>
                  </a:cubicBezTo>
                  <a:cubicBezTo>
                    <a:pt x="841" y="3"/>
                    <a:pt x="841" y="3"/>
                    <a:pt x="602" y="166"/>
                  </a:cubicBezTo>
                  <a:cubicBezTo>
                    <a:pt x="601" y="168"/>
                    <a:pt x="601" y="168"/>
                    <a:pt x="599" y="171"/>
                  </a:cubicBezTo>
                  <a:cubicBezTo>
                    <a:pt x="599" y="171"/>
                    <a:pt x="599" y="171"/>
                    <a:pt x="578" y="254"/>
                  </a:cubicBezTo>
                  <a:close/>
                  <a:moveTo>
                    <a:pt x="646" y="352"/>
                  </a:moveTo>
                  <a:cubicBezTo>
                    <a:pt x="730" y="362"/>
                    <a:pt x="730" y="362"/>
                    <a:pt x="730" y="362"/>
                  </a:cubicBezTo>
                  <a:cubicBezTo>
                    <a:pt x="734" y="361"/>
                    <a:pt x="734" y="361"/>
                    <a:pt x="736" y="361"/>
                  </a:cubicBezTo>
                  <a:cubicBezTo>
                    <a:pt x="974" y="196"/>
                    <a:pt x="974" y="196"/>
                    <a:pt x="974" y="196"/>
                  </a:cubicBezTo>
                  <a:cubicBezTo>
                    <a:pt x="978" y="194"/>
                    <a:pt x="978" y="187"/>
                    <a:pt x="972" y="187"/>
                  </a:cubicBezTo>
                  <a:cubicBezTo>
                    <a:pt x="886" y="179"/>
                    <a:pt x="886" y="179"/>
                    <a:pt x="886" y="179"/>
                  </a:cubicBezTo>
                  <a:cubicBezTo>
                    <a:pt x="884" y="177"/>
                    <a:pt x="884" y="177"/>
                    <a:pt x="884" y="179"/>
                  </a:cubicBezTo>
                  <a:cubicBezTo>
                    <a:pt x="644" y="343"/>
                    <a:pt x="644" y="343"/>
                    <a:pt x="644" y="343"/>
                  </a:cubicBezTo>
                  <a:cubicBezTo>
                    <a:pt x="642" y="347"/>
                    <a:pt x="642" y="351"/>
                    <a:pt x="646" y="35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0" name="Freeform 26">
              <a:extLst>
                <a:ext uri="{FF2B5EF4-FFF2-40B4-BE49-F238E27FC236}">
                  <ns2:creationId id="{F562C458-32E3-43E7-BAF7-B4773D3C4A7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22" y="756"/>
              <a:ext cx="2814" cy="2816"/>
            </a:xfrm>
            <a:custGeom>
              <a:avLst/>
              <a:gdLst>
                <a:gd name="T0" fmla="*/ 1016 w 1502"/>
                <a:gd name="T1" fmla="*/ 662 h 1502"/>
                <a:gd name="T2" fmla="*/ 1030 w 1502"/>
                <a:gd name="T3" fmla="*/ 751 h 1502"/>
                <a:gd name="T4" fmla="*/ 751 w 1502"/>
                <a:gd name="T5" fmla="*/ 1030 h 1502"/>
                <a:gd name="T6" fmla="*/ 472 w 1502"/>
                <a:gd name="T7" fmla="*/ 751 h 1502"/>
                <a:gd name="T8" fmla="*/ 751 w 1502"/>
                <a:gd name="T9" fmla="*/ 472 h 1502"/>
                <a:gd name="T10" fmla="*/ 929 w 1502"/>
                <a:gd name="T11" fmla="*/ 536 h 1502"/>
                <a:gd name="T12" fmla="*/ 819 w 1502"/>
                <a:gd name="T13" fmla="*/ 611 h 1502"/>
                <a:gd name="T14" fmla="*/ 751 w 1502"/>
                <a:gd name="T15" fmla="*/ 596 h 1502"/>
                <a:gd name="T16" fmla="*/ 596 w 1502"/>
                <a:gd name="T17" fmla="*/ 751 h 1502"/>
                <a:gd name="T18" fmla="*/ 751 w 1502"/>
                <a:gd name="T19" fmla="*/ 906 h 1502"/>
                <a:gd name="T20" fmla="*/ 906 w 1502"/>
                <a:gd name="T21" fmla="*/ 751 h 1502"/>
                <a:gd name="T22" fmla="*/ 906 w 1502"/>
                <a:gd name="T23" fmla="*/ 738 h 1502"/>
                <a:gd name="T24" fmla="*/ 1016 w 1502"/>
                <a:gd name="T25" fmla="*/ 662 h 1502"/>
                <a:gd name="T26" fmla="*/ 1107 w 1502"/>
                <a:gd name="T27" fmla="*/ 599 h 1502"/>
                <a:gd name="T28" fmla="*/ 1138 w 1502"/>
                <a:gd name="T29" fmla="*/ 751 h 1502"/>
                <a:gd name="T30" fmla="*/ 751 w 1502"/>
                <a:gd name="T31" fmla="*/ 1138 h 1502"/>
                <a:gd name="T32" fmla="*/ 364 w 1502"/>
                <a:gd name="T33" fmla="*/ 751 h 1502"/>
                <a:gd name="T34" fmla="*/ 751 w 1502"/>
                <a:gd name="T35" fmla="*/ 364 h 1502"/>
                <a:gd name="T36" fmla="*/ 1020 w 1502"/>
                <a:gd name="T37" fmla="*/ 473 h 1502"/>
                <a:gd name="T38" fmla="*/ 1124 w 1502"/>
                <a:gd name="T39" fmla="*/ 401 h 1502"/>
                <a:gd name="T40" fmla="*/ 751 w 1502"/>
                <a:gd name="T41" fmla="*/ 240 h 1502"/>
                <a:gd name="T42" fmla="*/ 240 w 1502"/>
                <a:gd name="T43" fmla="*/ 751 h 1502"/>
                <a:gd name="T44" fmla="*/ 751 w 1502"/>
                <a:gd name="T45" fmla="*/ 1262 h 1502"/>
                <a:gd name="T46" fmla="*/ 1262 w 1502"/>
                <a:gd name="T47" fmla="*/ 751 h 1502"/>
                <a:gd name="T48" fmla="*/ 1211 w 1502"/>
                <a:gd name="T49" fmla="*/ 528 h 1502"/>
                <a:gd name="T50" fmla="*/ 1107 w 1502"/>
                <a:gd name="T51" fmla="*/ 599 h 1502"/>
                <a:gd name="T52" fmla="*/ 1333 w 1502"/>
                <a:gd name="T53" fmla="*/ 443 h 1502"/>
                <a:gd name="T54" fmla="*/ 1307 w 1502"/>
                <a:gd name="T55" fmla="*/ 461 h 1502"/>
                <a:gd name="T56" fmla="*/ 1378 w 1502"/>
                <a:gd name="T57" fmla="*/ 751 h 1502"/>
                <a:gd name="T58" fmla="*/ 751 w 1502"/>
                <a:gd name="T59" fmla="*/ 1378 h 1502"/>
                <a:gd name="T60" fmla="*/ 124 w 1502"/>
                <a:gd name="T61" fmla="*/ 751 h 1502"/>
                <a:gd name="T62" fmla="*/ 751 w 1502"/>
                <a:gd name="T63" fmla="*/ 124 h 1502"/>
                <a:gd name="T64" fmla="*/ 1220 w 1502"/>
                <a:gd name="T65" fmla="*/ 335 h 1502"/>
                <a:gd name="T66" fmla="*/ 1246 w 1502"/>
                <a:gd name="T67" fmla="*/ 317 h 1502"/>
                <a:gd name="T68" fmla="*/ 1273 w 1502"/>
                <a:gd name="T69" fmla="*/ 211 h 1502"/>
                <a:gd name="T70" fmla="*/ 751 w 1502"/>
                <a:gd name="T71" fmla="*/ 0 h 1502"/>
                <a:gd name="T72" fmla="*/ 0 w 1502"/>
                <a:gd name="T73" fmla="*/ 751 h 1502"/>
                <a:gd name="T74" fmla="*/ 751 w 1502"/>
                <a:gd name="T75" fmla="*/ 1502 h 1502"/>
                <a:gd name="T76" fmla="*/ 1502 w 1502"/>
                <a:gd name="T77" fmla="*/ 751 h 1502"/>
                <a:gd name="T78" fmla="*/ 1442 w 1502"/>
                <a:gd name="T79" fmla="*/ 456 h 1502"/>
                <a:gd name="T80" fmla="*/ 1333 w 1502"/>
                <a:gd name="T81" fmla="*/ 443 h 1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02" h="1502">
                  <a:moveTo>
                    <a:pt x="1016" y="662"/>
                  </a:moveTo>
                  <a:cubicBezTo>
                    <a:pt x="1025" y="690"/>
                    <a:pt x="1030" y="720"/>
                    <a:pt x="1030" y="751"/>
                  </a:cubicBezTo>
                  <a:cubicBezTo>
                    <a:pt x="1030" y="905"/>
                    <a:pt x="905" y="1030"/>
                    <a:pt x="751" y="1030"/>
                  </a:cubicBezTo>
                  <a:cubicBezTo>
                    <a:pt x="597" y="1030"/>
                    <a:pt x="472" y="905"/>
                    <a:pt x="472" y="751"/>
                  </a:cubicBezTo>
                  <a:cubicBezTo>
                    <a:pt x="472" y="597"/>
                    <a:pt x="597" y="472"/>
                    <a:pt x="751" y="472"/>
                  </a:cubicBezTo>
                  <a:cubicBezTo>
                    <a:pt x="818" y="472"/>
                    <a:pt x="880" y="496"/>
                    <a:pt x="929" y="536"/>
                  </a:cubicBezTo>
                  <a:cubicBezTo>
                    <a:pt x="819" y="611"/>
                    <a:pt x="819" y="611"/>
                    <a:pt x="819" y="611"/>
                  </a:cubicBezTo>
                  <a:cubicBezTo>
                    <a:pt x="798" y="601"/>
                    <a:pt x="775" y="596"/>
                    <a:pt x="751" y="596"/>
                  </a:cubicBezTo>
                  <a:cubicBezTo>
                    <a:pt x="665" y="596"/>
                    <a:pt x="596" y="665"/>
                    <a:pt x="596" y="751"/>
                  </a:cubicBezTo>
                  <a:cubicBezTo>
                    <a:pt x="596" y="836"/>
                    <a:pt x="665" y="906"/>
                    <a:pt x="751" y="906"/>
                  </a:cubicBezTo>
                  <a:cubicBezTo>
                    <a:pt x="837" y="906"/>
                    <a:pt x="906" y="836"/>
                    <a:pt x="906" y="751"/>
                  </a:cubicBezTo>
                  <a:cubicBezTo>
                    <a:pt x="906" y="746"/>
                    <a:pt x="906" y="742"/>
                    <a:pt x="906" y="738"/>
                  </a:cubicBezTo>
                  <a:lnTo>
                    <a:pt x="1016" y="662"/>
                  </a:lnTo>
                  <a:close/>
                  <a:moveTo>
                    <a:pt x="1107" y="599"/>
                  </a:moveTo>
                  <a:cubicBezTo>
                    <a:pt x="1127" y="646"/>
                    <a:pt x="1138" y="697"/>
                    <a:pt x="1138" y="751"/>
                  </a:cubicBezTo>
                  <a:cubicBezTo>
                    <a:pt x="1138" y="964"/>
                    <a:pt x="964" y="1138"/>
                    <a:pt x="751" y="1138"/>
                  </a:cubicBezTo>
                  <a:cubicBezTo>
                    <a:pt x="537" y="1138"/>
                    <a:pt x="364" y="964"/>
                    <a:pt x="364" y="751"/>
                  </a:cubicBezTo>
                  <a:cubicBezTo>
                    <a:pt x="364" y="537"/>
                    <a:pt x="537" y="364"/>
                    <a:pt x="751" y="364"/>
                  </a:cubicBezTo>
                  <a:cubicBezTo>
                    <a:pt x="855" y="364"/>
                    <a:pt x="950" y="405"/>
                    <a:pt x="1020" y="473"/>
                  </a:cubicBezTo>
                  <a:cubicBezTo>
                    <a:pt x="1124" y="401"/>
                    <a:pt x="1124" y="401"/>
                    <a:pt x="1124" y="401"/>
                  </a:cubicBezTo>
                  <a:cubicBezTo>
                    <a:pt x="1030" y="302"/>
                    <a:pt x="898" y="240"/>
                    <a:pt x="751" y="240"/>
                  </a:cubicBezTo>
                  <a:cubicBezTo>
                    <a:pt x="469" y="240"/>
                    <a:pt x="240" y="469"/>
                    <a:pt x="240" y="751"/>
                  </a:cubicBezTo>
                  <a:cubicBezTo>
                    <a:pt x="240" y="1033"/>
                    <a:pt x="469" y="1262"/>
                    <a:pt x="751" y="1262"/>
                  </a:cubicBezTo>
                  <a:cubicBezTo>
                    <a:pt x="1033" y="1262"/>
                    <a:pt x="1262" y="1033"/>
                    <a:pt x="1262" y="751"/>
                  </a:cubicBezTo>
                  <a:cubicBezTo>
                    <a:pt x="1262" y="671"/>
                    <a:pt x="1244" y="595"/>
                    <a:pt x="1211" y="528"/>
                  </a:cubicBezTo>
                  <a:lnTo>
                    <a:pt x="1107" y="599"/>
                  </a:lnTo>
                  <a:close/>
                  <a:moveTo>
                    <a:pt x="1333" y="443"/>
                  </a:moveTo>
                  <a:cubicBezTo>
                    <a:pt x="1307" y="461"/>
                    <a:pt x="1307" y="461"/>
                    <a:pt x="1307" y="461"/>
                  </a:cubicBezTo>
                  <a:cubicBezTo>
                    <a:pt x="1352" y="548"/>
                    <a:pt x="1378" y="646"/>
                    <a:pt x="1378" y="751"/>
                  </a:cubicBezTo>
                  <a:cubicBezTo>
                    <a:pt x="1378" y="1097"/>
                    <a:pt x="1097" y="1378"/>
                    <a:pt x="751" y="1378"/>
                  </a:cubicBezTo>
                  <a:cubicBezTo>
                    <a:pt x="405" y="1378"/>
                    <a:pt x="124" y="1097"/>
                    <a:pt x="124" y="751"/>
                  </a:cubicBezTo>
                  <a:cubicBezTo>
                    <a:pt x="124" y="405"/>
                    <a:pt x="405" y="124"/>
                    <a:pt x="751" y="124"/>
                  </a:cubicBezTo>
                  <a:cubicBezTo>
                    <a:pt x="937" y="124"/>
                    <a:pt x="1105" y="205"/>
                    <a:pt x="1220" y="335"/>
                  </a:cubicBezTo>
                  <a:cubicBezTo>
                    <a:pt x="1246" y="317"/>
                    <a:pt x="1246" y="317"/>
                    <a:pt x="1246" y="317"/>
                  </a:cubicBezTo>
                  <a:cubicBezTo>
                    <a:pt x="1273" y="211"/>
                    <a:pt x="1273" y="211"/>
                    <a:pt x="1273" y="211"/>
                  </a:cubicBezTo>
                  <a:cubicBezTo>
                    <a:pt x="1138" y="80"/>
                    <a:pt x="954" y="0"/>
                    <a:pt x="751" y="0"/>
                  </a:cubicBezTo>
                  <a:cubicBezTo>
                    <a:pt x="337" y="0"/>
                    <a:pt x="0" y="337"/>
                    <a:pt x="0" y="751"/>
                  </a:cubicBezTo>
                  <a:cubicBezTo>
                    <a:pt x="0" y="1165"/>
                    <a:pt x="337" y="1502"/>
                    <a:pt x="751" y="1502"/>
                  </a:cubicBezTo>
                  <a:cubicBezTo>
                    <a:pt x="1165" y="1502"/>
                    <a:pt x="1502" y="1165"/>
                    <a:pt x="1502" y="751"/>
                  </a:cubicBezTo>
                  <a:cubicBezTo>
                    <a:pt x="1502" y="646"/>
                    <a:pt x="1480" y="547"/>
                    <a:pt x="1442" y="456"/>
                  </a:cubicBezTo>
                  <a:lnTo>
                    <a:pt x="1333" y="44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131" name="TB131"/>
          <p:cNvSpPr txBox="1"/>
          <p:nvPr/>
        </p:nvSpPr>
        <p:spPr>
          <a:xfrm>
            <a:off x="1682495" y="3304032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295E7E"/>
                </a:solidFill>
                <a:latin typeface="Trebuchet MS"/>
              </a:rPr>
              <a:t>Robots need to see</a:t>
            </a:r>
          </a:p>
        </p:txBody>
      </p:sp>
      <p:sp>
        <p:nvSpPr>
          <p:cNvPr id="132" name="TB132"/>
          <p:cNvSpPr txBox="1"/>
          <p:nvPr/>
        </p:nvSpPr>
        <p:spPr>
          <a:xfrm>
            <a:off x="1682495" y="3614928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 weeding robot must tell a weed (dandelion) from the crop (grass) in real time, or it cuts the wrong plant.</a:t>
            </a:r>
          </a:p>
        </p:txBody>
      </p:sp>
      <p:sp>
        <p:nvSpPr>
          <p:cNvPr id="133" name="RR133"/>
          <p:cNvSpPr/>
          <p:nvPr/>
        </p:nvSpPr>
        <p:spPr>
          <a:xfrm>
            <a:off x="630936" y="4312920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4" name="R134"/>
          <p:cNvSpPr/>
          <p:nvPr/>
        </p:nvSpPr>
        <p:spPr>
          <a:xfrm>
            <a:off x="630936" y="4312920"/>
            <a:ext cx="73152" cy="99060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35" name="O135"/>
          <p:cNvSpPr/>
          <p:nvPr/>
        </p:nvSpPr>
        <p:spPr>
          <a:xfrm>
            <a:off x="859536" y="4533900"/>
            <a:ext cx="548640" cy="54864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grpSp>
        <p:nvGrpSpPr>
          <p:cNvPr id="136" name="svg_Robotics_Advanced_Automation_Technology"/>
          <p:cNvGrpSpPr>
            <a:grpSpLocks noChangeAspect="1"/>
          </p:cNvGrpSpPr>
          <p:nvPr/>
        </p:nvGrpSpPr>
        <p:grpSpPr bwMode="auto">
          <a:xfrm>
            <a:off x="969264" y="4643628"/>
            <a:ext cx="347472" cy="347472"/>
            <a:chOff x="0" y="0"/>
            <a:chExt cx="10000" cy="10000"/>
          </a:xfrm>
        </p:grpSpPr>
        <p:sp>
          <p:nvSpPr>
            <p:cNvPr id="137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8894" y="7866"/>
                  </a:moveTo>
                  <a:cubicBezTo>
                    <a:pt x="4587" y="7866"/>
                    <a:pt x="4587" y="7866"/>
                    <a:pt x="4587" y="7866"/>
                  </a:cubicBezTo>
                  <a:cubicBezTo>
                    <a:pt x="4587" y="7283"/>
                    <a:pt x="4587" y="7283"/>
                    <a:pt x="4587" y="7283"/>
                  </a:cubicBezTo>
                  <a:cubicBezTo>
                    <a:pt x="4587" y="7235"/>
                    <a:pt x="4553" y="7201"/>
                    <a:pt x="4505" y="7201"/>
                  </a:cubicBezTo>
                  <a:cubicBezTo>
                    <a:pt x="4242" y="7201"/>
                    <a:pt x="4242" y="7201"/>
                    <a:pt x="4242" y="7201"/>
                  </a:cubicBezTo>
                  <a:cubicBezTo>
                    <a:pt x="4242" y="6903"/>
                    <a:pt x="4242" y="6622"/>
                    <a:pt x="4242" y="6622"/>
                  </a:cubicBezTo>
                  <a:cubicBezTo>
                    <a:pt x="2209" y="6622"/>
                    <a:pt x="2209" y="6622"/>
                    <a:pt x="2209" y="6622"/>
                  </a:cubicBezTo>
                  <a:cubicBezTo>
                    <a:pt x="2209" y="7123"/>
                    <a:pt x="2209" y="7201"/>
                    <a:pt x="2209" y="7201"/>
                  </a:cubicBezTo>
                  <a:cubicBezTo>
                    <a:pt x="1937" y="7201"/>
                    <a:pt x="1937" y="7201"/>
                    <a:pt x="1937" y="7201"/>
                  </a:cubicBezTo>
                  <a:cubicBezTo>
                    <a:pt x="1889" y="7201"/>
                    <a:pt x="1855" y="7235"/>
                    <a:pt x="1855" y="7283"/>
                  </a:cubicBezTo>
                  <a:cubicBezTo>
                    <a:pt x="1855" y="7866"/>
                    <a:pt x="1855" y="7866"/>
                    <a:pt x="1855" y="7866"/>
                  </a:cubicBezTo>
                  <a:cubicBezTo>
                    <a:pt x="1595" y="7866"/>
                    <a:pt x="1595" y="7866"/>
                    <a:pt x="1595" y="7866"/>
                  </a:cubicBezTo>
                  <a:cubicBezTo>
                    <a:pt x="1548" y="7866"/>
                    <a:pt x="1513" y="7896"/>
                    <a:pt x="1513" y="7948"/>
                  </a:cubicBezTo>
                  <a:cubicBezTo>
                    <a:pt x="1513" y="8237"/>
                    <a:pt x="1513" y="8237"/>
                    <a:pt x="1513" y="8237"/>
                  </a:cubicBezTo>
                  <a:cubicBezTo>
                    <a:pt x="1513" y="8285"/>
                    <a:pt x="1548" y="8319"/>
                    <a:pt x="1595" y="8319"/>
                  </a:cubicBezTo>
                  <a:cubicBezTo>
                    <a:pt x="8894" y="8319"/>
                    <a:pt x="8894" y="8319"/>
                    <a:pt x="8894" y="8319"/>
                  </a:cubicBezTo>
                  <a:cubicBezTo>
                    <a:pt x="8942" y="8319"/>
                    <a:pt x="8977" y="8285"/>
                    <a:pt x="8977" y="8237"/>
                  </a:cubicBezTo>
                  <a:cubicBezTo>
                    <a:pt x="8977" y="7948"/>
                    <a:pt x="8977" y="7948"/>
                    <a:pt x="8977" y="7948"/>
                  </a:cubicBezTo>
                  <a:cubicBezTo>
                    <a:pt x="8977" y="7896"/>
                    <a:pt x="8942" y="7866"/>
                    <a:pt x="8894" y="7866"/>
                  </a:cubicBezTo>
                  <a:close/>
                  <a:moveTo>
                    <a:pt x="3126" y="3073"/>
                  </a:moveTo>
                  <a:cubicBezTo>
                    <a:pt x="3126" y="2451"/>
                    <a:pt x="2616" y="1941"/>
                    <a:pt x="1989" y="1941"/>
                  </a:cubicBezTo>
                  <a:cubicBezTo>
                    <a:pt x="1366" y="1941"/>
                    <a:pt x="856" y="2451"/>
                    <a:pt x="856" y="3073"/>
                  </a:cubicBezTo>
                  <a:cubicBezTo>
                    <a:pt x="856" y="3699"/>
                    <a:pt x="1366" y="4208"/>
                    <a:pt x="1989" y="4208"/>
                  </a:cubicBezTo>
                  <a:cubicBezTo>
                    <a:pt x="2616" y="4208"/>
                    <a:pt x="3126" y="3699"/>
                    <a:pt x="3126" y="3073"/>
                  </a:cubicBezTo>
                  <a:close/>
                  <a:moveTo>
                    <a:pt x="1046" y="3073"/>
                  </a:moveTo>
                  <a:cubicBezTo>
                    <a:pt x="1046" y="2554"/>
                    <a:pt x="1470" y="2131"/>
                    <a:pt x="1989" y="2131"/>
                  </a:cubicBezTo>
                  <a:cubicBezTo>
                    <a:pt x="2512" y="2131"/>
                    <a:pt x="2936" y="2554"/>
                    <a:pt x="2936" y="3073"/>
                  </a:cubicBezTo>
                  <a:cubicBezTo>
                    <a:pt x="2936" y="3595"/>
                    <a:pt x="2512" y="4018"/>
                    <a:pt x="1989" y="4018"/>
                  </a:cubicBezTo>
                  <a:cubicBezTo>
                    <a:pt x="1470" y="4018"/>
                    <a:pt x="1046" y="3595"/>
                    <a:pt x="1046" y="3073"/>
                  </a:cubicBezTo>
                  <a:close/>
                  <a:moveTo>
                    <a:pt x="5971" y="2697"/>
                  </a:moveTo>
                  <a:cubicBezTo>
                    <a:pt x="6473" y="2511"/>
                    <a:pt x="6728" y="1946"/>
                    <a:pt x="6542" y="1449"/>
                  </a:cubicBezTo>
                  <a:cubicBezTo>
                    <a:pt x="6352" y="948"/>
                    <a:pt x="5790" y="689"/>
                    <a:pt x="5288" y="875"/>
                  </a:cubicBezTo>
                  <a:cubicBezTo>
                    <a:pt x="4786" y="1065"/>
                    <a:pt x="4531" y="1626"/>
                    <a:pt x="4717" y="2131"/>
                  </a:cubicBezTo>
                  <a:cubicBezTo>
                    <a:pt x="4903" y="2628"/>
                    <a:pt x="5470" y="2883"/>
                    <a:pt x="5971" y="2697"/>
                  </a:cubicBezTo>
                  <a:close/>
                  <a:moveTo>
                    <a:pt x="5357" y="1056"/>
                  </a:moveTo>
                  <a:cubicBezTo>
                    <a:pt x="5759" y="905"/>
                    <a:pt x="6209" y="1108"/>
                    <a:pt x="6365" y="1514"/>
                  </a:cubicBezTo>
                  <a:cubicBezTo>
                    <a:pt x="6512" y="1915"/>
                    <a:pt x="6309" y="2369"/>
                    <a:pt x="5906" y="2516"/>
                  </a:cubicBezTo>
                  <a:cubicBezTo>
                    <a:pt x="5500" y="2671"/>
                    <a:pt x="5046" y="2464"/>
                    <a:pt x="4899" y="2062"/>
                  </a:cubicBezTo>
                  <a:cubicBezTo>
                    <a:pt x="4743" y="1656"/>
                    <a:pt x="4951" y="1207"/>
                    <a:pt x="5357" y="1056"/>
                  </a:cubicBezTo>
                  <a:close/>
                  <a:moveTo>
                    <a:pt x="7459" y="4783"/>
                  </a:moveTo>
                  <a:cubicBezTo>
                    <a:pt x="7493" y="4822"/>
                    <a:pt x="7549" y="4826"/>
                    <a:pt x="7588" y="4796"/>
                  </a:cubicBezTo>
                  <a:cubicBezTo>
                    <a:pt x="7623" y="5340"/>
                    <a:pt x="7623" y="5340"/>
                    <a:pt x="7623" y="5340"/>
                  </a:cubicBezTo>
                  <a:cubicBezTo>
                    <a:pt x="7627" y="5383"/>
                    <a:pt x="7658" y="5417"/>
                    <a:pt x="7701" y="5426"/>
                  </a:cubicBezTo>
                  <a:cubicBezTo>
                    <a:pt x="7701" y="5426"/>
                    <a:pt x="7705" y="5426"/>
                    <a:pt x="7705" y="5426"/>
                  </a:cubicBezTo>
                  <a:cubicBezTo>
                    <a:pt x="8133" y="5491"/>
                    <a:pt x="8133" y="5491"/>
                    <a:pt x="8133" y="5491"/>
                  </a:cubicBezTo>
                  <a:cubicBezTo>
                    <a:pt x="8189" y="5499"/>
                    <a:pt x="8237" y="5461"/>
                    <a:pt x="8241" y="5409"/>
                  </a:cubicBezTo>
                  <a:cubicBezTo>
                    <a:pt x="8250" y="5357"/>
                    <a:pt x="8215" y="5310"/>
                    <a:pt x="8164" y="5301"/>
                  </a:cubicBezTo>
                  <a:cubicBezTo>
                    <a:pt x="7809" y="5249"/>
                    <a:pt x="7809" y="5249"/>
                    <a:pt x="7809" y="5249"/>
                  </a:cubicBezTo>
                  <a:cubicBezTo>
                    <a:pt x="7770" y="4670"/>
                    <a:pt x="7770" y="4670"/>
                    <a:pt x="7770" y="4670"/>
                  </a:cubicBezTo>
                  <a:cubicBezTo>
                    <a:pt x="7766" y="4662"/>
                    <a:pt x="7766" y="4649"/>
                    <a:pt x="7761" y="4640"/>
                  </a:cubicBezTo>
                  <a:cubicBezTo>
                    <a:pt x="8129" y="4316"/>
                    <a:pt x="8129" y="4316"/>
                    <a:pt x="8129" y="4316"/>
                  </a:cubicBezTo>
                  <a:cubicBezTo>
                    <a:pt x="8138" y="4321"/>
                    <a:pt x="8146" y="4325"/>
                    <a:pt x="8155" y="4329"/>
                  </a:cubicBezTo>
                  <a:cubicBezTo>
                    <a:pt x="8155" y="4329"/>
                    <a:pt x="8155" y="4329"/>
                    <a:pt x="8155" y="4329"/>
                  </a:cubicBezTo>
                  <a:cubicBezTo>
                    <a:pt x="8726" y="4437"/>
                    <a:pt x="8726" y="4437"/>
                    <a:pt x="8726" y="4437"/>
                  </a:cubicBezTo>
                  <a:cubicBezTo>
                    <a:pt x="8734" y="4796"/>
                    <a:pt x="8734" y="4796"/>
                    <a:pt x="8734" y="4796"/>
                  </a:cubicBezTo>
                  <a:cubicBezTo>
                    <a:pt x="8739" y="4839"/>
                    <a:pt x="8769" y="4878"/>
                    <a:pt x="8812" y="4886"/>
                  </a:cubicBezTo>
                  <a:cubicBezTo>
                    <a:pt x="8821" y="4886"/>
                    <a:pt x="8825" y="4891"/>
                    <a:pt x="8834" y="4886"/>
                  </a:cubicBezTo>
                  <a:cubicBezTo>
                    <a:pt x="8886" y="4886"/>
                    <a:pt x="8929" y="4843"/>
                    <a:pt x="8925" y="4791"/>
                  </a:cubicBezTo>
                  <a:cubicBezTo>
                    <a:pt x="8916" y="4359"/>
                    <a:pt x="8916" y="4359"/>
                    <a:pt x="8916" y="4359"/>
                  </a:cubicBezTo>
                  <a:cubicBezTo>
                    <a:pt x="8916" y="4312"/>
                    <a:pt x="8881" y="4273"/>
                    <a:pt x="8838" y="4265"/>
                  </a:cubicBezTo>
                  <a:cubicBezTo>
                    <a:pt x="8302" y="4161"/>
                    <a:pt x="8302" y="4161"/>
                    <a:pt x="8302" y="4161"/>
                  </a:cubicBezTo>
                  <a:cubicBezTo>
                    <a:pt x="8337" y="4126"/>
                    <a:pt x="8337" y="4075"/>
                    <a:pt x="8306" y="4036"/>
                  </a:cubicBezTo>
                  <a:cubicBezTo>
                    <a:pt x="8159" y="3867"/>
                    <a:pt x="8159" y="3867"/>
                    <a:pt x="8159" y="3867"/>
                  </a:cubicBezTo>
                  <a:cubicBezTo>
                    <a:pt x="8125" y="3828"/>
                    <a:pt x="8064" y="3828"/>
                    <a:pt x="8025" y="3863"/>
                  </a:cubicBezTo>
                  <a:cubicBezTo>
                    <a:pt x="7320" y="4485"/>
                    <a:pt x="7320" y="4485"/>
                    <a:pt x="7320" y="4485"/>
                  </a:cubicBezTo>
                  <a:cubicBezTo>
                    <a:pt x="7281" y="4519"/>
                    <a:pt x="7277" y="4580"/>
                    <a:pt x="7312" y="4619"/>
                  </a:cubicBezTo>
                  <a:lnTo>
                    <a:pt x="7459" y="478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38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4283" y="5814"/>
                  </a:moveTo>
                  <a:cubicBezTo>
                    <a:pt x="4020" y="5814"/>
                    <a:pt x="4020" y="5814"/>
                    <a:pt x="4020" y="5814"/>
                  </a:cubicBezTo>
                  <a:cubicBezTo>
                    <a:pt x="3377" y="4473"/>
                    <a:pt x="3144" y="3997"/>
                    <a:pt x="3066" y="3833"/>
                  </a:cubicBezTo>
                  <a:cubicBezTo>
                    <a:pt x="2829" y="4166"/>
                    <a:pt x="2437" y="4387"/>
                    <a:pt x="1997" y="4387"/>
                  </a:cubicBezTo>
                  <a:cubicBezTo>
                    <a:pt x="1954" y="4387"/>
                    <a:pt x="1915" y="4382"/>
                    <a:pt x="1871" y="4378"/>
                  </a:cubicBezTo>
                  <a:cubicBezTo>
                    <a:pt x="2355" y="5659"/>
                    <a:pt x="2411" y="5814"/>
                    <a:pt x="2411" y="5814"/>
                  </a:cubicBezTo>
                  <a:cubicBezTo>
                    <a:pt x="2130" y="5814"/>
                    <a:pt x="2130" y="5814"/>
                    <a:pt x="2130" y="5814"/>
                  </a:cubicBezTo>
                  <a:cubicBezTo>
                    <a:pt x="2083" y="5814"/>
                    <a:pt x="2048" y="5849"/>
                    <a:pt x="2048" y="5897"/>
                  </a:cubicBezTo>
                  <a:cubicBezTo>
                    <a:pt x="2048" y="6338"/>
                    <a:pt x="2048" y="6338"/>
                    <a:pt x="2048" y="6338"/>
                  </a:cubicBezTo>
                  <a:cubicBezTo>
                    <a:pt x="2048" y="6386"/>
                    <a:pt x="2083" y="6420"/>
                    <a:pt x="2130" y="6420"/>
                  </a:cubicBezTo>
                  <a:cubicBezTo>
                    <a:pt x="4283" y="6420"/>
                    <a:pt x="4283" y="6420"/>
                    <a:pt x="4283" y="6420"/>
                  </a:cubicBezTo>
                  <a:cubicBezTo>
                    <a:pt x="4331" y="6420"/>
                    <a:pt x="4361" y="6386"/>
                    <a:pt x="4361" y="6338"/>
                  </a:cubicBezTo>
                  <a:cubicBezTo>
                    <a:pt x="4361" y="5897"/>
                    <a:pt x="4361" y="5897"/>
                    <a:pt x="4361" y="5897"/>
                  </a:cubicBezTo>
                  <a:cubicBezTo>
                    <a:pt x="4361" y="5849"/>
                    <a:pt x="4331" y="5814"/>
                    <a:pt x="4283" y="5814"/>
                  </a:cubicBezTo>
                  <a:close/>
                  <a:moveTo>
                    <a:pt x="2747" y="3058"/>
                  </a:moveTo>
                  <a:cubicBezTo>
                    <a:pt x="2747" y="2643"/>
                    <a:pt x="2411" y="2306"/>
                    <a:pt x="1992" y="2306"/>
                  </a:cubicBezTo>
                  <a:cubicBezTo>
                    <a:pt x="1578" y="2306"/>
                    <a:pt x="1242" y="2643"/>
                    <a:pt x="1242" y="3058"/>
                  </a:cubicBezTo>
                  <a:cubicBezTo>
                    <a:pt x="1242" y="3478"/>
                    <a:pt x="1578" y="3816"/>
                    <a:pt x="1992" y="3816"/>
                  </a:cubicBezTo>
                  <a:cubicBezTo>
                    <a:pt x="2411" y="3816"/>
                    <a:pt x="2747" y="3478"/>
                    <a:pt x="2747" y="3058"/>
                  </a:cubicBezTo>
                  <a:close/>
                  <a:moveTo>
                    <a:pt x="4477" y="1609"/>
                  </a:moveTo>
                  <a:cubicBezTo>
                    <a:pt x="2972" y="2154"/>
                    <a:pt x="2972" y="2154"/>
                    <a:pt x="2972" y="2154"/>
                  </a:cubicBezTo>
                  <a:cubicBezTo>
                    <a:pt x="2954" y="2154"/>
                    <a:pt x="2954" y="2154"/>
                    <a:pt x="2954" y="2154"/>
                  </a:cubicBezTo>
                  <a:cubicBezTo>
                    <a:pt x="3071" y="2284"/>
                    <a:pt x="3166" y="2427"/>
                    <a:pt x="3231" y="2600"/>
                  </a:cubicBezTo>
                  <a:cubicBezTo>
                    <a:pt x="3304" y="2795"/>
                    <a:pt x="3325" y="2994"/>
                    <a:pt x="3308" y="3184"/>
                  </a:cubicBezTo>
                  <a:cubicBezTo>
                    <a:pt x="4171" y="2842"/>
                    <a:pt x="4598" y="2669"/>
                    <a:pt x="4801" y="2587"/>
                  </a:cubicBezTo>
                  <a:cubicBezTo>
                    <a:pt x="4689" y="2474"/>
                    <a:pt x="4598" y="2340"/>
                    <a:pt x="4538" y="2180"/>
                  </a:cubicBezTo>
                  <a:cubicBezTo>
                    <a:pt x="4469" y="1990"/>
                    <a:pt x="4451" y="1795"/>
                    <a:pt x="4477" y="1609"/>
                  </a:cubicBezTo>
                  <a:close/>
                  <a:moveTo>
                    <a:pt x="8817" y="5075"/>
                  </a:moveTo>
                  <a:cubicBezTo>
                    <a:pt x="8636" y="5036"/>
                    <a:pt x="8464" y="5152"/>
                    <a:pt x="8425" y="5334"/>
                  </a:cubicBezTo>
                  <a:cubicBezTo>
                    <a:pt x="8390" y="5512"/>
                    <a:pt x="8503" y="5689"/>
                    <a:pt x="8684" y="5724"/>
                  </a:cubicBezTo>
                  <a:cubicBezTo>
                    <a:pt x="8865" y="5763"/>
                    <a:pt x="9037" y="5646"/>
                    <a:pt x="9076" y="5468"/>
                  </a:cubicBezTo>
                  <a:cubicBezTo>
                    <a:pt x="9111" y="5287"/>
                    <a:pt x="8998" y="5109"/>
                    <a:pt x="8817" y="5075"/>
                  </a:cubicBezTo>
                  <a:close/>
                  <a:moveTo>
                    <a:pt x="6177" y="1566"/>
                  </a:moveTo>
                  <a:cubicBezTo>
                    <a:pt x="6091" y="1332"/>
                    <a:pt x="5871" y="1176"/>
                    <a:pt x="5625" y="1176"/>
                  </a:cubicBezTo>
                  <a:cubicBezTo>
                    <a:pt x="5556" y="1176"/>
                    <a:pt x="5487" y="1189"/>
                    <a:pt x="5418" y="1215"/>
                  </a:cubicBezTo>
                  <a:cubicBezTo>
                    <a:pt x="5111" y="1332"/>
                    <a:pt x="4956" y="1674"/>
                    <a:pt x="5073" y="1981"/>
                  </a:cubicBezTo>
                  <a:cubicBezTo>
                    <a:pt x="5159" y="2210"/>
                    <a:pt x="5379" y="2362"/>
                    <a:pt x="5625" y="2362"/>
                  </a:cubicBezTo>
                  <a:cubicBezTo>
                    <a:pt x="5694" y="2362"/>
                    <a:pt x="5767" y="2349"/>
                    <a:pt x="5832" y="2323"/>
                  </a:cubicBezTo>
                  <a:cubicBezTo>
                    <a:pt x="6138" y="2210"/>
                    <a:pt x="6294" y="1869"/>
                    <a:pt x="6177" y="1566"/>
                  </a:cubicBezTo>
                  <a:close/>
                  <a:moveTo>
                    <a:pt x="5879" y="2903"/>
                  </a:moveTo>
                  <a:cubicBezTo>
                    <a:pt x="6527" y="3651"/>
                    <a:pt x="6915" y="4101"/>
                    <a:pt x="7152" y="4369"/>
                  </a:cubicBezTo>
                  <a:cubicBezTo>
                    <a:pt x="7161" y="4356"/>
                    <a:pt x="7174" y="4344"/>
                    <a:pt x="7187" y="4330"/>
                  </a:cubicBezTo>
                  <a:cubicBezTo>
                    <a:pt x="7890" y="3707"/>
                    <a:pt x="7890" y="3707"/>
                    <a:pt x="7890" y="3707"/>
                  </a:cubicBezTo>
                  <a:cubicBezTo>
                    <a:pt x="7903" y="3694"/>
                    <a:pt x="7916" y="3686"/>
                    <a:pt x="7929" y="3677"/>
                  </a:cubicBezTo>
                  <a:cubicBezTo>
                    <a:pt x="7199" y="2829"/>
                    <a:pt x="6846" y="2418"/>
                    <a:pt x="6686" y="2236"/>
                  </a:cubicBezTo>
                  <a:cubicBezTo>
                    <a:pt x="6539" y="2565"/>
                    <a:pt x="6246" y="2821"/>
                    <a:pt x="5879" y="290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39" name="TB139"/>
          <p:cNvSpPr txBox="1"/>
          <p:nvPr/>
        </p:nvSpPr>
        <p:spPr>
          <a:xfrm>
            <a:off x="1682495" y="4422648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Manual weeding does not scale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1682495" y="4733544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Hand-weeding is labour-scarce and costly; a fast, automated perception model is the enabler.</a:t>
            </a:r>
          </a:p>
        </p:txBody>
      </p:sp>
      <p:sp>
        <p:nvSpPr>
          <p:cNvPr id="141" name="RR14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42" name="TB14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GreenGuard is the robot's perception brain: a binary classifier (weed vs crop), industrialised as a full MLOps platform.</a:t>
            </a:r>
          </a:p>
        </p:txBody>
      </p:sp>
    </p:spTree>
  </p:cSld>
</p:sld>
</file>

<file path=ppt/slides/slide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measurable KPIs define success, from macro-F1 &gt;= 0.85 to drift-triggered retraining</a:t>
            </a:r>
          </a:p>
        </p:txBody>
      </p:sp>
      <p:graphicFrame>
        <p:nvGraphicFramePr>
          <p:cNvPr id="144" name="Table 144"/>
          <p:cNvGraphicFramePr>
            <a:graphicFrameLocks noGrp="1"/>
          </p:cNvGraphicFramePr>
          <p:nvPr/>
        </p:nvGraphicFramePr>
        <p:xfrm>
          <a:off x="630936" y="2075688"/>
          <a:ext cx="6561734" cy="3867912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3280867"/>
                <a:gridCol w="328086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Objective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KPI / target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Accurate classification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Macro-F1 &gt;= 0.85 (validation)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Responsive serving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p90 latency &lt; 500 ms (CPU)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Reproducible ML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Every run tracked in MLflow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Self-maintaining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Drift-triggered + monthly retraining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Observable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Live latency, throughput, drift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Portable and secure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Identical Compose/K8s; secrets out of code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5" name="RR145"/>
          <p:cNvSpPr/>
          <p:nvPr/>
        </p:nvSpPr>
        <p:spPr>
          <a:xfrm>
            <a:off x="7421270" y="2075688"/>
            <a:ext cx="4145889" cy="38679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6" name="R146"/>
          <p:cNvSpPr/>
          <p:nvPr/>
        </p:nvSpPr>
        <p:spPr>
          <a:xfrm>
            <a:off x="7421270" y="2075688"/>
            <a:ext cx="73152" cy="3867912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7" name="R147"/>
          <p:cNvSpPr/>
          <p:nvPr/>
        </p:nvSpPr>
        <p:spPr>
          <a:xfrm>
            <a:off x="7421270" y="2075688"/>
            <a:ext cx="4145889" cy="384048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8" name="TB148"/>
          <p:cNvSpPr txBox="1"/>
          <p:nvPr/>
        </p:nvSpPr>
        <p:spPr>
          <a:xfrm>
            <a:off x="7558430" y="2075688"/>
            <a:ext cx="3871569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Why it matters</a:t>
            </a:r>
          </a:p>
        </p:txBody>
      </p:sp>
      <p:sp>
        <p:nvSpPr>
          <p:cNvPr id="149" name="TB149"/>
          <p:cNvSpPr txBox="1"/>
          <p:nvPr/>
        </p:nvSpPr>
        <p:spPr>
          <a:xfrm>
            <a:off x="7558430" y="2578608"/>
            <a:ext cx="3871569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KPIs are taken straight from the cahier des charges and are revisited on the results slide. Each is measurable and verifiable from the repository.</a:t>
            </a:r>
          </a:p>
        </p:txBody>
      </p:sp>
      <p:sp>
        <p:nvSpPr>
          <p:cNvPr id="150" name="TB150"/>
          <p:cNvSpPr txBox="1"/>
          <p:nvPr/>
        </p:nvSpPr>
        <p:spPr>
          <a:xfrm>
            <a:off x="7558430" y="4937760"/>
            <a:ext cx="3871569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 b="1">
                <a:solidFill>
                  <a:srgbClr val="575757"/>
                </a:solidFill>
                <a:latin typeface="Trebuchet MS"/>
              </a:rPr>
              <a:t>Release gate: </a:t>
            </a:r>
            <a:r>
              <a:rPr lang="en-US" sz="1400" dirty="0" b="1">
                <a:solidFill>
                  <a:srgbClr val="29BA74"/>
                </a:solidFill>
                <a:latin typeface="Trebuchet MS"/>
              </a:rPr>
              <a:t>macro-F1 &gt;= 0.85</a:t>
            </a:r>
          </a:p>
        </p:txBody>
      </p:sp>
    </p:spTree>
  </p:cSld>
</p:sld>
</file>

<file path=ppt/slides/slide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and ML model</a:t>
            </a:r>
          </a:p>
        </p:txBody>
      </p:sp>
    </p:spTree>
  </p:cSld>
</p:sld>
</file>

<file path=ppt/slides/slide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four-stage loop ingests, trains, serves and monitors the classifier end to end</a:t>
            </a:r>
          </a:p>
        </p:txBody>
      </p:sp>
      <p:sp>
        <p:nvSpPr>
          <p:cNvPr id="153" name="S153"/>
          <p:cNvSpPr/>
          <p:nvPr/>
        </p:nvSpPr>
        <p:spPr>
          <a:xfrm>
            <a:off x="630936" y="2075688"/>
            <a:ext cx="2836926" cy="640080"/>
          </a:xfrm>
          <a:prstGeom prst="chevron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54" name="TB154"/>
          <p:cNvSpPr txBox="1"/>
          <p:nvPr/>
        </p:nvSpPr>
        <p:spPr>
          <a:xfrm>
            <a:off x="859536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55" name="S155"/>
          <p:cNvSpPr/>
          <p:nvPr/>
        </p:nvSpPr>
        <p:spPr>
          <a:xfrm>
            <a:off x="3330702" y="2075688"/>
            <a:ext cx="2836926" cy="640080"/>
          </a:xfrm>
          <a:prstGeom prst="chevron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56" name="TB156"/>
          <p:cNvSpPr txBox="1"/>
          <p:nvPr/>
        </p:nvSpPr>
        <p:spPr>
          <a:xfrm>
            <a:off x="3559302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030468" y="2075688"/>
            <a:ext cx="2836926" cy="640080"/>
          </a:xfrm>
          <a:prstGeom prst="chevron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58" name="TB158"/>
          <p:cNvSpPr txBox="1"/>
          <p:nvPr/>
        </p:nvSpPr>
        <p:spPr>
          <a:xfrm>
            <a:off x="6259068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59" name="S159"/>
          <p:cNvSpPr/>
          <p:nvPr/>
        </p:nvSpPr>
        <p:spPr>
          <a:xfrm>
            <a:off x="8730234" y="2075688"/>
            <a:ext cx="2836926" cy="640080"/>
          </a:xfrm>
          <a:prstGeom prst="chevron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0" name="TB160"/>
          <p:cNvSpPr txBox="1"/>
          <p:nvPr/>
        </p:nvSpPr>
        <p:spPr>
          <a:xfrm>
            <a:off x="8958834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61" name="RR161"/>
          <p:cNvSpPr/>
          <p:nvPr/>
        </p:nvSpPr>
        <p:spPr>
          <a:xfrm>
            <a:off x="630936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2" name="R162"/>
          <p:cNvSpPr/>
          <p:nvPr/>
        </p:nvSpPr>
        <p:spPr>
          <a:xfrm>
            <a:off x="630936" y="2880360"/>
            <a:ext cx="25968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3" name="R163"/>
          <p:cNvSpPr/>
          <p:nvPr/>
        </p:nvSpPr>
        <p:spPr>
          <a:xfrm>
            <a:off x="630936" y="2880360"/>
            <a:ext cx="2596896" cy="347472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4" name="TB164"/>
          <p:cNvSpPr txBox="1"/>
          <p:nvPr/>
        </p:nvSpPr>
        <p:spPr>
          <a:xfrm>
            <a:off x="722375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65" name="BL165"/>
          <p:cNvSpPr txBox="1"/>
          <p:nvPr/>
        </p:nvSpPr>
        <p:spPr>
          <a:xfrm>
            <a:off x="740664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Airflow downloads images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Stores raw + processed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MinIO (S3) storage</a:t>
            </a:r>
          </a:p>
        </p:txBody>
      </p:sp>
      <p:sp>
        <p:nvSpPr>
          <p:cNvPr id="166" name="RR166"/>
          <p:cNvSpPr/>
          <p:nvPr/>
        </p:nvSpPr>
        <p:spPr>
          <a:xfrm>
            <a:off x="3410712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7" name="R167"/>
          <p:cNvSpPr/>
          <p:nvPr/>
        </p:nvSpPr>
        <p:spPr>
          <a:xfrm>
            <a:off x="3410712" y="2880360"/>
            <a:ext cx="25968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8" name="R168"/>
          <p:cNvSpPr/>
          <p:nvPr/>
        </p:nvSpPr>
        <p:spPr>
          <a:xfrm>
            <a:off x="3410712" y="2880360"/>
            <a:ext cx="2596896" cy="347472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9" name="TB169"/>
          <p:cNvSpPr txBox="1"/>
          <p:nvPr/>
        </p:nvSpPr>
        <p:spPr>
          <a:xfrm>
            <a:off x="3502152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70" name="BL170"/>
          <p:cNvSpPr txBox="1"/>
          <p:nvPr/>
        </p:nvSpPr>
        <p:spPr>
          <a:xfrm>
            <a:off x="3520440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PyTorch ResNet18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MLflow tracks metrics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Best model to MinIO</a:t>
            </a:r>
          </a:p>
        </p:txBody>
      </p:sp>
      <p:sp>
        <p:nvSpPr>
          <p:cNvPr id="171" name="RR171"/>
          <p:cNvSpPr/>
          <p:nvPr/>
        </p:nvSpPr>
        <p:spPr>
          <a:xfrm>
            <a:off x="6190488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2" name="R172"/>
          <p:cNvSpPr/>
          <p:nvPr/>
        </p:nvSpPr>
        <p:spPr>
          <a:xfrm>
            <a:off x="6190488" y="2880360"/>
            <a:ext cx="25968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3" name="R173"/>
          <p:cNvSpPr/>
          <p:nvPr/>
        </p:nvSpPr>
        <p:spPr>
          <a:xfrm>
            <a:off x="6190488" y="2880360"/>
            <a:ext cx="2596896" cy="347472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4" name="TB174"/>
          <p:cNvSpPr txBox="1"/>
          <p:nvPr/>
        </p:nvSpPr>
        <p:spPr>
          <a:xfrm>
            <a:off x="6281928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75" name="BL175"/>
          <p:cNvSpPr txBox="1"/>
          <p:nvPr/>
        </p:nvSpPr>
        <p:spPr>
          <a:xfrm>
            <a:off x="6300216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FastAPI /predict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Streamlit UI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Loads model on start</a:t>
            </a:r>
          </a:p>
        </p:txBody>
      </p:sp>
      <p:sp>
        <p:nvSpPr>
          <p:cNvPr id="176" name="RR176"/>
          <p:cNvSpPr/>
          <p:nvPr/>
        </p:nvSpPr>
        <p:spPr>
          <a:xfrm>
            <a:off x="8970264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7" name="R177"/>
          <p:cNvSpPr/>
          <p:nvPr/>
        </p:nvSpPr>
        <p:spPr>
          <a:xfrm>
            <a:off x="8970264" y="2880360"/>
            <a:ext cx="2596896" cy="54864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8" name="R178"/>
          <p:cNvSpPr/>
          <p:nvPr/>
        </p:nvSpPr>
        <p:spPr>
          <a:xfrm>
            <a:off x="8970264" y="2880360"/>
            <a:ext cx="2596896" cy="347472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9" name="TB179"/>
          <p:cNvSpPr txBox="1"/>
          <p:nvPr/>
        </p:nvSpPr>
        <p:spPr>
          <a:xfrm>
            <a:off x="9061704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80" name="BL180"/>
          <p:cNvSpPr txBox="1"/>
          <p:nvPr/>
        </p:nvSpPr>
        <p:spPr>
          <a:xfrm>
            <a:off x="9079992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Prometheus + Grafana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PSI drift detection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Drift-triggered retrain</a:t>
            </a:r>
          </a:p>
        </p:txBody>
      </p:sp>
      <p:sp>
        <p:nvSpPr>
          <p:cNvPr id="181" name="RR18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82" name="TB18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Docker Compose (local) and Kubernetes (Minikube) wrap the same image, so the loop runs identically locally and on a cluster.</a:t>
            </a:r>
          </a:p>
        </p:txBody>
      </p:sp>
    </p:spTree>
  </p:cSld>
</p:sld>
</file>

<file path=ppt/slides/slide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learning on ResNet18 reaches ~0.90 accuracy from just 400 images</a:t>
            </a:r>
          </a:p>
        </p:txBody>
      </p:sp>
      <p:sp>
        <p:nvSpPr>
          <p:cNvPr id="184" name="RR184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5" name="R185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6" name="R186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7" name="TB187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ResNet18 (production)</a:t>
            </a:r>
          </a:p>
        </p:txBody>
      </p:sp>
      <p:sp>
        <p:nvSpPr>
          <p:cNvPr id="188" name="BL188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ImageNet-pretrained, fine-tuned head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Transfer learning suits ~400 images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Converges in a few CPU epochs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Default via MODEL_ARCH=resnet18</a:t>
            </a:r>
          </a:p>
        </p:txBody>
      </p:sp>
      <p:sp>
        <p:nvSpPr>
          <p:cNvPr id="189" name="RR189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0" name="R190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1" name="R191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2" name="TB192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Custom CNN (baseline)</a:t>
            </a:r>
          </a:p>
        </p:txBody>
      </p:sp>
      <p:sp>
        <p:nvSpPr>
          <p:cNvPr id="193" name="BL193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4-block CNN trained from scratch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Tiny, no weight download (offline)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Kept as a fallback and comparison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Selected via MODEL_ARCH=cnn</a:t>
            </a:r>
          </a:p>
        </p:txBody>
      </p:sp>
      <p:sp>
        <p:nvSpPr>
          <p:cNvPr id="194" name="RR19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5" name="TB19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architecture is selectable; the checkpoint stores it so serving rebuilds the exact network. ResNet18 is the production default.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gate releases on macro-F1, not accuracy alone, with full confusion-matrix tracking</a:t>
            </a:r>
          </a:p>
        </p:txBody>
      </p:sp>
      <p:sp>
        <p:nvSpPr>
          <p:cNvPr id="197" name="RR19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8" name="TB19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Macro-F1 is the headline, release-gating metric (&gt;= 0.85). Accuracy, precision, recall and the confusion matrix are logged to MLflow each run.</a:t>
            </a:r>
          </a:p>
        </p:txBody>
      </p:sp>
      <p:graphicFrame>
        <p:nvGraphicFramePr>
          <p:cNvPr id="199" name="Chart 19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0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Industrialisation: serving, CI/CD, monitoring</a:t>
            </a:r>
          </a:p>
        </p:txBody>
      </p:sp>
    </p:spTree>
  </p:cSld>
</p:sld>
</file>

<file path=ppt/slides/slide1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stateless FastAPI service serves predictions and exposes model and drift metrics</a:t>
            </a:r>
          </a:p>
        </p:txBody>
      </p:sp>
      <p:sp>
        <p:nvSpPr>
          <p:cNvPr id="201" name="RR201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R202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3" name="R203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4" name="TB204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Predict</a:t>
            </a:r>
          </a:p>
        </p:txBody>
      </p:sp>
      <p:sp>
        <p:nvSpPr>
          <p:cNvPr id="205" name="BL205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POST /predict -&gt; class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Per-class probabilities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400 on invalid image</a:t>
            </a:r>
          </a:p>
        </p:txBody>
      </p:sp>
      <p:sp>
        <p:nvSpPr>
          <p:cNvPr id="206" name="RR206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7" name="R207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8" name="R208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9" name="TB209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Introspect</a:t>
            </a:r>
          </a:p>
        </p:txBody>
      </p:sp>
      <p:sp>
        <p:nvSpPr>
          <p:cNvPr id="210" name="BL210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/health readiness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/version metadata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arch + source</a:t>
            </a:r>
          </a:p>
        </p:txBody>
      </p:sp>
      <p:sp>
        <p:nvSpPr>
          <p:cNvPr id="211" name="RR211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2" name="R212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3" name="R213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4" name="TB214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Observe + UI</a:t>
            </a:r>
          </a:p>
        </p:txBody>
      </p:sp>
      <p:sp>
        <p:nvSpPr>
          <p:cNvPr id="215" name="BL215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/metrics (Prometheus)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gauges exposed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Streamlit demo UI</a:t>
            </a:r>
          </a:p>
        </p:txBody>
      </p:sp>
      <p:sp>
        <p:nvSpPr>
          <p:cNvPr id="216" name="RR21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17" name="TB21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API is stateless and scalable; it loads the latest model from MinIO at startup, so a retrain propagates to serving without code changes.</a:t>
            </a:r>
          </a:p>
        </p:txBody>
      </p:sp>
    </p:spTree>
  </p:cSld>
</p:sld>
</file>

<file path=ppt/slides/slide1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 push runs tests, builds and publishes the image, and validates the deployment</a:t>
            </a:r>
          </a:p>
        </p:txBody>
      </p:sp>
      <p:sp>
        <p:nvSpPr>
          <p:cNvPr id="219" name="RR219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0" name="R220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1" name="R221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2" name="TB222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  Test</a:t>
            </a:r>
          </a:p>
        </p:txBody>
      </p:sp>
      <p:sp>
        <p:nvSpPr>
          <p:cNvPr id="223" name="BL223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model factory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API endpoints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drift engine</a:t>
            </a:r>
          </a:p>
        </p:txBody>
      </p:sp>
      <p:sp>
        <p:nvSpPr>
          <p:cNvPr id="224" name="RR224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5" name="R225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6" name="R226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7" name="TB227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  Build</a:t>
            </a:r>
          </a:p>
        </p:txBody>
      </p:sp>
      <p:sp>
        <p:nvSpPr>
          <p:cNvPr id="228" name="BL228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Docker image build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Push to GHCR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Tagged by commit SHA</a:t>
            </a:r>
          </a:p>
        </p:txBody>
      </p:sp>
      <p:sp>
        <p:nvSpPr>
          <p:cNvPr id="229" name="RR229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0" name="R230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1" name="R231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2" name="TB232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  Validate</a:t>
            </a:r>
          </a:p>
        </p:txBody>
      </p:sp>
      <p:sp>
        <p:nvSpPr>
          <p:cNvPr id="233" name="BL233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kubeconform on manifests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Schema-checked, offline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Same manifests run on Minikube</a:t>
            </a:r>
          </a:p>
        </p:txBody>
      </p:sp>
      <p:sp>
        <p:nvSpPr>
          <p:cNvPr id="234" name="RR23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5" name="TB23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GitHub Actions runs all three jobs on every push to main; the deploy stage schema-validates the Kubernetes manifests.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PSI-based drift monitoring makes data shift visible and actionable in Grafana</a:t>
            </a:r>
          </a:p>
        </p:txBody>
      </p:sp>
      <p:sp>
        <p:nvSpPr>
          <p:cNvPr id="237" name="RR23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8" name="TB23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PSI &gt;= 0.2 flags a drifted feature (green). Drift gauges ride the API /metrics endpoint into Prometheus and Grafana, with no extra service.</a:t>
            </a:r>
          </a:p>
        </p:txBody>
      </p:sp>
      <p:graphicFrame>
        <p:nvGraphicFramePr>
          <p:cNvPr id="239" name="Chart 23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4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drift definition drives both monitoring and automated, drift-triggered retraining</a:t>
            </a:r>
          </a:p>
        </p:txBody>
      </p:sp>
      <p:sp>
        <p:nvSpPr>
          <p:cNvPr id="240" name="RR240"/>
          <p:cNvSpPr/>
          <p:nvPr/>
        </p:nvSpPr>
        <p:spPr>
          <a:xfrm>
            <a:off x="630936" y="2075688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1" name="R241"/>
          <p:cNvSpPr/>
          <p:nvPr/>
        </p:nvSpPr>
        <p:spPr>
          <a:xfrm>
            <a:off x="630936" y="2075688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2" name="O242"/>
          <p:cNvSpPr/>
          <p:nvPr/>
        </p:nvSpPr>
        <p:spPr>
          <a:xfrm>
            <a:off x="832103" y="2202561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3" name="TB243"/>
          <p:cNvSpPr txBox="1"/>
          <p:nvPr/>
        </p:nvSpPr>
        <p:spPr>
          <a:xfrm>
            <a:off x="832103" y="2202561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1499616" y="2167128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Sync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3922776" y="2167128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Pull the latest processed dataset from MinIO.</a:t>
            </a:r>
          </a:p>
        </p:txBody>
      </p:sp>
      <p:sp>
        <p:nvSpPr>
          <p:cNvPr id="246" name="RR246"/>
          <p:cNvSpPr/>
          <p:nvPr/>
        </p:nvSpPr>
        <p:spPr>
          <a:xfrm>
            <a:off x="630936" y="2914650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7" name="R247"/>
          <p:cNvSpPr/>
          <p:nvPr/>
        </p:nvSpPr>
        <p:spPr>
          <a:xfrm>
            <a:off x="630936" y="2914650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8" name="O248"/>
          <p:cNvSpPr/>
          <p:nvPr/>
        </p:nvSpPr>
        <p:spPr>
          <a:xfrm>
            <a:off x="832103" y="3041523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9" name="TB249"/>
          <p:cNvSpPr txBox="1"/>
          <p:nvPr/>
        </p:nvSpPr>
        <p:spPr>
          <a:xfrm>
            <a:off x="832103" y="3041523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499616" y="3006090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Check drift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3922776" y="3006090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Compare against the reference baseline using the same PSI engine as monitoring.</a:t>
            </a:r>
          </a:p>
        </p:txBody>
      </p:sp>
      <p:sp>
        <p:nvSpPr>
          <p:cNvPr id="252" name="RR252"/>
          <p:cNvSpPr/>
          <p:nvPr/>
        </p:nvSpPr>
        <p:spPr>
          <a:xfrm>
            <a:off x="630936" y="3753612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3" name="R253"/>
          <p:cNvSpPr/>
          <p:nvPr/>
        </p:nvSpPr>
        <p:spPr>
          <a:xfrm>
            <a:off x="630936" y="3753612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4" name="O254"/>
          <p:cNvSpPr/>
          <p:nvPr/>
        </p:nvSpPr>
        <p:spPr>
          <a:xfrm>
            <a:off x="832103" y="3880485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5" name="TB255"/>
          <p:cNvSpPr txBox="1"/>
          <p:nvPr/>
        </p:nvSpPr>
        <p:spPr>
          <a:xfrm>
            <a:off x="832103" y="3880485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499616" y="3845052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Train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3922776" y="3845052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Retrain on a monthly cadence or when drift is detected; log to MLflow.</a:t>
            </a:r>
          </a:p>
        </p:txBody>
      </p:sp>
      <p:sp>
        <p:nvSpPr>
          <p:cNvPr id="258" name="RR258"/>
          <p:cNvSpPr/>
          <p:nvPr/>
        </p:nvSpPr>
        <p:spPr>
          <a:xfrm>
            <a:off x="630936" y="4592574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9" name="R259"/>
          <p:cNvSpPr/>
          <p:nvPr/>
        </p:nvSpPr>
        <p:spPr>
          <a:xfrm>
            <a:off x="630936" y="4592574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0" name="O260"/>
          <p:cNvSpPr/>
          <p:nvPr/>
        </p:nvSpPr>
        <p:spPr>
          <a:xfrm>
            <a:off x="832103" y="4719447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1" name="TB261"/>
          <p:cNvSpPr txBox="1"/>
          <p:nvPr/>
        </p:nvSpPr>
        <p:spPr>
          <a:xfrm>
            <a:off x="832103" y="4719447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499616" y="4684014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Refresh baseline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3922776" y="4684014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Promote the trained dataset to the new reference; push the model to MinIO.</a:t>
            </a:r>
          </a:p>
        </p:txBody>
      </p:sp>
      <p:sp>
        <p:nvSpPr>
          <p:cNvPr id="264" name="RR26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65" name="TB26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dashboard and the retraining trigger share one PSI definition - so 'the dashboard says drift' and 'the pipeline retrained' always agree.</a:t>
            </a:r>
          </a:p>
        </p:txBody>
      </p:sp>
    </p:spTree>
  </p:cSld>
</p:sld>
</file>

<file path=ppt/slides/slide1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meets every KPI: 0.90 accuracy, 0.89 F1, sub-500ms serving, full CI/CD</a:t>
            </a:r>
          </a:p>
        </p:txBody>
      </p:sp>
      <p:sp>
        <p:nvSpPr>
          <p:cNvPr id="267" name="RR267"/>
          <p:cNvSpPr/>
          <p:nvPr/>
        </p:nvSpPr>
        <p:spPr>
          <a:xfrm>
            <a:off x="630936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8" name="R268"/>
          <p:cNvSpPr/>
          <p:nvPr/>
        </p:nvSpPr>
        <p:spPr>
          <a:xfrm>
            <a:off x="630936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9" name="TB269"/>
          <p:cNvSpPr txBox="1"/>
          <p:nvPr/>
        </p:nvSpPr>
        <p:spPr>
          <a:xfrm>
            <a:off x="704087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0.90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704087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Validation accuracy</a:t>
            </a:r>
          </a:p>
        </p:txBody>
      </p:sp>
      <p:sp>
        <p:nvSpPr>
          <p:cNvPr id="271" name="RR271"/>
          <p:cNvSpPr/>
          <p:nvPr/>
        </p:nvSpPr>
        <p:spPr>
          <a:xfrm>
            <a:off x="3415284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R272"/>
          <p:cNvSpPr/>
          <p:nvPr/>
        </p:nvSpPr>
        <p:spPr>
          <a:xfrm>
            <a:off x="3415284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3" name="TB273"/>
          <p:cNvSpPr txBox="1"/>
          <p:nvPr/>
        </p:nvSpPr>
        <p:spPr>
          <a:xfrm>
            <a:off x="3488436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0.89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3488436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Macro F1-score</a:t>
            </a:r>
          </a:p>
        </p:txBody>
      </p:sp>
      <p:sp>
        <p:nvSpPr>
          <p:cNvPr id="275" name="RR275"/>
          <p:cNvSpPr/>
          <p:nvPr/>
        </p:nvSpPr>
        <p:spPr>
          <a:xfrm>
            <a:off x="6199632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6" name="R276"/>
          <p:cNvSpPr/>
          <p:nvPr/>
        </p:nvSpPr>
        <p:spPr>
          <a:xfrm>
            <a:off x="6199632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7" name="TB277"/>
          <p:cNvSpPr txBox="1"/>
          <p:nvPr/>
        </p:nvSpPr>
        <p:spPr>
          <a:xfrm>
            <a:off x="6272784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&lt;500ms</a:t>
            </a:r>
          </a:p>
        </p:txBody>
      </p:sp>
      <p:sp>
        <p:nvSpPr>
          <p:cNvPr id="278" name="TB278"/>
          <p:cNvSpPr txBox="1"/>
          <p:nvPr/>
        </p:nvSpPr>
        <p:spPr>
          <a:xfrm>
            <a:off x="6272784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p90 inference (CPU)</a:t>
            </a:r>
          </a:p>
        </p:txBody>
      </p:sp>
      <p:sp>
        <p:nvSpPr>
          <p:cNvPr id="279" name="RR279"/>
          <p:cNvSpPr/>
          <p:nvPr/>
        </p:nvSpPr>
        <p:spPr>
          <a:xfrm>
            <a:off x="8983980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0" name="R280"/>
          <p:cNvSpPr/>
          <p:nvPr/>
        </p:nvSpPr>
        <p:spPr>
          <a:xfrm>
            <a:off x="8983980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81" name="TB281"/>
          <p:cNvSpPr txBox="1"/>
          <p:nvPr/>
        </p:nvSpPr>
        <p:spPr>
          <a:xfrm>
            <a:off x="9057132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3 jobs</a:t>
            </a:r>
          </a:p>
        </p:txBody>
      </p:sp>
      <p:sp>
        <p:nvSpPr>
          <p:cNvPr id="282" name="TB282"/>
          <p:cNvSpPr txBox="1"/>
          <p:nvPr/>
        </p:nvSpPr>
        <p:spPr>
          <a:xfrm>
            <a:off x="9057132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CI/CD test-build-deploy</a:t>
            </a:r>
          </a:p>
        </p:txBody>
      </p:sp>
      <p:sp>
        <p:nvSpPr>
          <p:cNvPr id="283" name="RR283"/>
          <p:cNvSpPr/>
          <p:nvPr/>
        </p:nvSpPr>
        <p:spPr>
          <a:xfrm>
            <a:off x="630936" y="5394960"/>
            <a:ext cx="10936224" cy="5486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84" name="TB284"/>
          <p:cNvSpPr txBox="1"/>
          <p:nvPr/>
        </p:nvSpPr>
        <p:spPr>
          <a:xfrm>
            <a:off x="768096" y="5394960"/>
            <a:ext cx="10661904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Drift monitoring is live, retraining is monthly and drift-triggered, and the whole stack runs with one command locally.</a:t>
            </a:r>
          </a:p>
        </p:txBody>
      </p:sp>
    </p:spTree>
  </p:cSld>
</p:sld>
</file>

<file path=ppt/slides/slide1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Known limits are mitigated today, and a clear roadmap hardens the solution further</a:t>
            </a:r>
          </a:p>
        </p:txBody>
      </p:sp>
      <p:sp>
        <p:nvSpPr>
          <p:cNvPr id="286" name="RR286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7" name="R287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8" name="R288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9" name="TB289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Risks and mitigations</a:t>
            </a:r>
          </a:p>
        </p:txBody>
      </p:sp>
      <p:sp>
        <p:nvSpPr>
          <p:cNvPr id="290" name="BL290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Small data -&gt; transfer learning + augmentation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-&gt; monitoring + drift-triggered retrain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missing at boot -&gt; API 503 until ready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Evidently/Airflow deps -&gt; isolated + fallback</a:t>
            </a:r>
          </a:p>
        </p:txBody>
      </p:sp>
      <p:sp>
        <p:nvSpPr>
          <p:cNvPr id="291" name="RR291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2" name="R292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3" name="R293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4" name="TB294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Roadmap</a:t>
            </a:r>
          </a:p>
        </p:txBody>
      </p:sp>
      <p:sp>
        <p:nvSpPr>
          <p:cNvPr id="295" name="BL295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More data and more weed classes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Grad-CAM explainability + calibration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registry stages (staging to prod)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Canary deploys + automated rollback</a:t>
            </a:r>
          </a:p>
        </p:txBody>
      </p:sp>
      <p:sp>
        <p:nvSpPr>
          <p:cNvPr id="296" name="RR29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97" name="TB29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solution is defensible today and has a credible path to a hardened, registry-backed production deployment.</a:t>
            </a:r>
          </a:p>
        </p:txBody>
      </p:sp>
    </p:spTree>
  </p:cSld>
</p:sld>
</file>

<file path=ppt/slides/slide1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graphicFrame>
        <p:nvGraphicFramePr>
          <p:cNvPr id="299" name="Table 299"/>
          <p:cNvGraphicFramePr>
            <a:graphicFrameLocks noGrp="1"/>
          </p:cNvGraphicFramePr>
          <p:nvPr/>
        </p:nvGraphicFramePr>
        <p:xfrm>
          <a:off x="630936" y="2075688"/>
          <a:ext cx="10936224" cy="3657600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790570"/>
                <a:gridCol w="3689328"/>
                <a:gridCol w="3425805"/>
                <a:gridCol w="1712902"/>
                <a:gridCol w="131761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Slide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Data Point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Source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Category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URL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9, 15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~0.90 accuracy / ~0.89 macro-F1, &lt;500ms p90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reference run (MLOps repository)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8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~400 training images, 2 classes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btphan95/greenr-airflow dataset (project code)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13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Per-feature PSI values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drift sample report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4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Herbicide bans in public green spaces (e.g. France Loi Labbe)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French Loi Labbe / zero-phyto regulation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LLM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you. Questions welcome.</a:t>
            </a:r>
          </a:p>
        </p:txBody>
      </p:sp>
    </p:spTree>
  </p:cSld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39dcc26a-7131-49f4-a9eb-1c0521500c03"/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MASTERWIZARD_DRAFT" val="0"/>
  <p:tag name="EE4P_LANGUAGE_ID" val="1033"/>
  <p:tag name="EE4P_MASTERWIZARD_MARGINS" val="0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CG Grid 16:9">
  <a:themeElements>
    <a:clrScheme name="The Boston Consulting Group">
      <a:dk1>
        <a:srgbClr val="575757"/>
      </a:dk1>
      <a:lt1>
        <a:sysClr val="window" lastClr="FFFFFF"/>
      </a:lt1>
      <a:dk2>
        <a:srgbClr val="29BA74"/>
      </a:dk2>
      <a:lt2>
        <a:srgbClr val="F2F2F2"/>
      </a:lt2>
      <a:accent1>
        <a:srgbClr val="03522D"/>
      </a:accent1>
      <a:accent2>
        <a:srgbClr val="197A56"/>
      </a:accent2>
      <a:accent3>
        <a:srgbClr val="D4DF33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2E3558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9BA74"/>
        </a:solidFill>
        <a:ln w="9525" cap="rnd" cmpd="sng" algn="ctr">
          <a:solidFill>
            <a:srgbClr val="29BA74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60000"/>
              <a:lumOff val="40000"/>
            </a:schemeClr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rgbClr val="575757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</Words>
  <Application>Microsoft Macintosh PowerPoint</Application>
  <PresentationFormat>Widescreen</PresentationFormat>
  <Paragraphs>4</Paragraphs>
  <Slides>5</Slides>
  <Notes>4</Notes>
  <HiddenSlides>0</HiddenSlides>
  <MMClips>0</MMClips>
  <ScaleCrop>false</ScaleCrop>
  <HeadingPairs>
    <vt:vector size="10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  <vt:variant>
        <vt:lpstr>Custom Shows</vt:lpstr>
      </vt:variant>
      <vt:variant>
        <vt:i4>1</vt:i4>
      </vt:variant>
    </vt:vector>
  </HeadingPairs>
  <TitlesOfParts>
    <vt:vector size="10" baseType="lpstr">
      <vt:lpstr>Arial</vt:lpstr>
      <vt:lpstr>Trebuchet MS</vt:lpstr>
      <vt:lpstr>BCG Grid 16:9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Format Guide Workshop</vt:lpstr>
    </vt:vector>
  </TitlesOfParts>
  <Company>Boston Consulting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Boston Consulting Group</dc:creator>
  <cp:lastModifiedBy>Wulff, Jan</cp:lastModifiedBy>
  <cp:revision>437</cp:revision>
  <cp:lastPrinted>2016-04-06T18:59:25Z</cp:lastPrinted>
  <dcterms:created xsi:type="dcterms:W3CDTF">2016-11-04T11:46:04Z</dcterms:created>
  <dcterms:modified xsi:type="dcterms:W3CDTF">2026-03-02T22:47:51Z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2026-03-02T22:47:51Z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1d0d9304-b604-40c5-9b39-c9e5f6258716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MSIP_Label_b0d5c4f4-7a29-4385-b7a5-afbe2154ae6f_Tag">
    <vt:lpwstr>50, 3, 0, 1</vt:lpwstr>
  </property>
</Properties>
</file>