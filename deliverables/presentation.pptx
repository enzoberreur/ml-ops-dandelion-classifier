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ck_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114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GreenGuard MLOps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50976"/>
            <a:ext cx="868680" cy="17780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566928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A self-maintaining AI solution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for chemical-free weeding robots.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45152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D2DCE4"/>
                </a:solidFill>
                <a:latin typeface="Arial"/>
              </a:rPr>
              <a:t>End-to-end MLOps: specification, serving, CI/CD, drift monitoring and automated retraining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321808"/>
            <a:ext cx="3291840" cy="11430"/>
          </a:xfrm>
          <a:prstGeom prst="rect">
            <a:avLst/>
          </a:prstGeom>
          <a:solidFill>
            <a:srgbClr val="4258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681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AFBC"/>
                </a:solidFill>
                <a:latin typeface="Arial"/>
              </a:rPr>
              <a:t>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3679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AFBC"/>
                </a:solidFill>
                <a:latin typeface="Arial"/>
              </a:rPr>
              <a:t>RNCP Bloc 4 thesis deliverable. Prepared by Enzo Berreur.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00000"/>
                </a:solidFill>
                <a:latin typeface="Georgia"/>
              </a:rPr>
              <a:t>The MLOps loop matters more than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93392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Herbicide bans and labour shortages make autonomous weeding a compliance issue, not a gadget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993392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France's Loi Labbe already bans synthetic herbicides in public green spaces; organic farming forbids them outright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Manual weeding is the most labour-intensive task in chemical-free grounds care, exactly where labour is scarcest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56432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A deliberately simple classifier proves a production-grade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456432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ResNet18 transfer learning reaches 0.89 macro F1 with about 400 images and a 4 minute CPU training run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Serving degrades gracefully, every run is tracked in MLflow, every commit is tested, built and validated by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328416"/>
            <a:ext cx="658368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68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19472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Drift detection closes the loop with gated, automated 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919472"/>
            <a:ext cx="6583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One PSI engine feeds both the Grafana dashboard and the retrain decision, so they can never disagree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0">
                <a:solidFill>
                  <a:srgbClr val="000000"/>
                </a:solidFill>
                <a:latin typeface="Arial"/>
              </a:rPr>
              <a:t>A promotion gate ships a candidate only if it clears 0.85 macro F1 and does not regress against the live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791456"/>
            <a:ext cx="658368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5615" y="651052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51615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3280" y="0"/>
            <a:ext cx="8808415" cy="6858000"/>
          </a:xfrm>
          <a:prstGeom prst="rect">
            <a:avLst/>
          </a:prstGeom>
          <a:solidFill>
            <a:srgbClr val="E8E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2459736"/>
            <a:ext cx="5394960" cy="658368"/>
          </a:xfrm>
          <a:prstGeom prst="rect">
            <a:avLst/>
          </a:prstGeom>
          <a:solidFill>
            <a:srgbClr val="0621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251460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Specifications and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3227832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rial"/>
              </a:rPr>
              <a:t>ML solution and serving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3941064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1052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1615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Weeding is turning into a compliance problem that hand labour can no longer absorb.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Specifications and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521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51FF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24757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D4D4D"/>
                </a:solidFill>
                <a:latin typeface="Arial"/>
              </a:rPr>
              <a:t>synthetic herbicides allowed in French public green spaces under Loi Labbe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8698" y="1554480"/>
            <a:ext cx="2521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51FF"/>
                </a:solidFill>
                <a:latin typeface="Georgia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8698" y="2121408"/>
            <a:ext cx="24757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D4D4D"/>
                </a:solidFill>
                <a:latin typeface="Arial"/>
              </a:rPr>
              <a:t>cost line in chemical-free grounds care is manual weeding labour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1554480"/>
            <a:ext cx="2521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51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2121408"/>
            <a:ext cx="24757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D4D4D"/>
                </a:solidFill>
                <a:latin typeface="Arial"/>
              </a:rPr>
              <a:t>classes the robot must never confuse: the weed and the crop it protects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254" y="1554480"/>
            <a:ext cx="2521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51FF"/>
                </a:solidFill>
                <a:latin typeface="Georgia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254" y="2121408"/>
            <a:ext cx="24757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D4D4D"/>
                </a:solidFill>
                <a:latin typeface="Arial"/>
              </a:rPr>
              <a:t>autonomous operation only pays if the perception model stays reliable unattended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10607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- </a:t>
            </a:r>
            <a:r>
              <a:rPr sz="1200" b="1">
                <a:solidFill>
                  <a:srgbClr val="000000"/>
                </a:solidFill>
                <a:latin typeface="Arial"/>
              </a:rPr>
              <a:t>The product: </a:t>
            </a:r>
            <a:r>
              <a:rPr sz="1200" b="0">
                <a:solidFill>
                  <a:srgbClr val="000000"/>
                </a:solidFill>
                <a:latin typeface="Arial"/>
              </a:rPr>
              <a:t>GreenGuard robots remove weeds mechanically; the robot acts only when the camera is sure it sees a weed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- </a:t>
            </a:r>
            <a:r>
              <a:rPr sz="1200" b="1">
                <a:solidFill>
                  <a:srgbClr val="000000"/>
                </a:solidFill>
                <a:latin typeface="Arial"/>
              </a:rPr>
              <a:t>The economics: </a:t>
            </a:r>
            <a:r>
              <a:rPr sz="1200" b="0">
                <a:solidFill>
                  <a:srgbClr val="000000"/>
                </a:solidFill>
                <a:latin typeface="Arial"/>
              </a:rPr>
              <a:t>every percentage point of precision protects the asset; every point of recall is herbicide-free weeding that actually worked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00000"/>
                </a:solidFill>
                <a:latin typeface="Arial"/>
              </a:rPr>
              <a:t>- </a:t>
            </a:r>
            <a:r>
              <a:rPr sz="1200" b="1">
                <a:solidFill>
                  <a:srgbClr val="000000"/>
                </a:solidFill>
                <a:latin typeface="Arial"/>
              </a:rPr>
              <a:t>Why MLOps is the product: </a:t>
            </a:r>
            <a:r>
              <a:rPr sz="1200" b="0">
                <a:solidFill>
                  <a:srgbClr val="000000"/>
                </a:solidFill>
                <a:latin typeface="Arial"/>
              </a:rPr>
              <a:t>fields, seasons and lighting drift continuously; a model that cannot watch itself and retrain silently decays into a crop-cutting 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docs/SPECIFICATION.md sections 1-2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Every business outcome maps to one ML metric and one live monitoring signal; nothing is tracked for decoration.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Specifications and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000000"/>
                </a:solidFill>
                <a:latin typeface="Georgia"/>
              </a:rPr>
              <a:t>If a metric moves,
someone knows which
business promise
is at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91640"/>
            <a:ext cx="24899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Business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8990" y="1691640"/>
            <a:ext cx="2412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ML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8794" y="1691640"/>
            <a:ext cx="2412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Live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075688"/>
            <a:ext cx="7726679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231136"/>
            <a:ext cx="248991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Never cut the crop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8990" y="2231136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Per-class precision, confusion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8794" y="2231136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Prediction mix, drift flag, retrain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697480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761488"/>
            <a:ext cx="248991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Do not miss weeds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8990" y="2761488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Macro F1, recall on the weed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8794" y="2761488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Release gate at 0.85; drift flag in Grafana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27832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291840"/>
            <a:ext cx="248991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Real-time operation on a moving robot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8990" y="3291840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Inference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8794" y="3291840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p90 latency vs the 500 ms target in Prometheus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758184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822192"/>
            <a:ext cx="248991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Sustained accuracy across sites and seasons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8990" y="3822192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Drift magnitude, retrain 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8794" y="3822192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Dataset drift flag, drift share, retrain runs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288536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352544"/>
            <a:ext cx="248991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Low maintenance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8990" y="4352544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Automation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8794" y="4352544"/>
            <a:ext cx="24126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Green CI/CD, drift-triggered retraining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4818888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docs/SPECIFICATION.md, business outcome to metric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Seven functional requirements, each with a written acceptance criterion the jury can check in the repo.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Specifications and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4414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1515" y="1600200"/>
            <a:ext cx="4000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Acceptance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9266" y="1600200"/>
            <a:ext cx="33296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Where it is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84248"/>
            <a:ext cx="11183112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Data ingestion and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1515" y="21396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Weekly Airflow DAG runs end to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266" y="21396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dandelion_data_pipeline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328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968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Reproducible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1515" y="25968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Fixed seed, pinned deps, every run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9266" y="25968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MLflow run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900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540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Prediction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1515" y="30540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Class plus probabilities; 400 on a non-image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9266" y="30540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POST /predict, tests/test_api.py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472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112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Health, version,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1515" y="35112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Graceful startup; model metadata exposed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9266" y="35112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/health, /version, /metrics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044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684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Web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1515" y="39684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Upload an image, see class and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9266" y="39684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Streamlit app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616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4256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Drift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1515" y="44256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Per-feature PSI plus a dataset drift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9266" y="44256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Grafana drift dashboard, drift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188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82896"/>
            <a:ext cx="34414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Automated retraining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1515" y="4882896"/>
            <a:ext cx="400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Scheduled and drift-triggered, gated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266" y="4882896"/>
            <a:ext cx="33296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dandelion_retrain_pipeline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27608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docs/SPECIFICATION.md; deliverables/cahier_des_charges.docx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F4"/>
                </a:solidFill>
                <a:latin typeface="Arial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ML solution and serving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77639"/>
            <a:ext cx="4754880" cy="15240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AE6F0"/>
                </a:solidFill>
                <a:latin typeface="Arial"/>
              </a:rPr>
              <a:t>400 images, a 4 minute training run, and an API that never goes down with its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With 400 images, the architecture decision is the whole ML decision: transfer learning or nothing.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ML solution and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017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000000"/>
                </a:solidFill>
                <a:latin typeface="Georgia"/>
              </a:rPr>
              <a:t>Too little data to learn
vision from scratch;
exactly enough to
fine-tune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91640"/>
            <a:ext cx="12536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2722" y="1691640"/>
            <a:ext cx="30307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ResNet18 transfer learning (production)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0660" y="1691640"/>
            <a:ext cx="30307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4-block CNN from scratch (baseline)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075688"/>
            <a:ext cx="7726679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231136"/>
            <a:ext cx="12536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2722" y="2231136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ImageNet features reused; only the head retrains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0660" y="2231136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Must learn edges and texture from 400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734056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798064"/>
            <a:ext cx="12536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Data appetite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2722" y="2798064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Hundreds of images suffice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0660" y="2798064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Typically needs orders of magnitude more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300984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364992"/>
            <a:ext cx="12536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2722" y="3364992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About 4 minutes on 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0660" y="3364992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Cheaper per epoch, far weaker ceiling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867912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931920"/>
            <a:ext cx="12536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Role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2722" y="3931920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Serves production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0660" y="3931920"/>
            <a:ext cx="303077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Kept in the codebase for offline ablation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434840"/>
            <a:ext cx="7726679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20624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000000"/>
                </a:solidFill>
                <a:latin typeface="Arial"/>
              </a:rPr>
              <a:t>- </a:t>
            </a:r>
            <a:r>
              <a:rPr sz="1100" b="0">
                <a:solidFill>
                  <a:srgbClr val="000000"/>
                </a:solidFill>
                <a:latin typeface="Arial"/>
              </a:rPr>
              <a:t>Augmentation on the training split only: random resized crop, horizontal flip, colour jitter; 80/20 split at seed 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notebooks/02_model_selection.ipynb, models/model.py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The production model clears its release gate with margin, and the gate is enforced in code, not in a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ML solution and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Validation metrics, ResNet18 production model,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score, 0 to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01368"/>
            <a:ext cx="11183112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450592"/>
            <a:ext cx="3785616" cy="32918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377440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44368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Macro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3017520"/>
            <a:ext cx="3743553" cy="32918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5353" y="2944368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0.89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11296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Precision (macro)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584448"/>
            <a:ext cx="3743553" cy="32918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5353" y="3511296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0.89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78224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Recall (macro)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4151376"/>
            <a:ext cx="3743553" cy="32918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5353" y="4078224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0.89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55664" y="2267712"/>
            <a:ext cx="0" cy="2377440"/>
          </a:xfrm>
          <a:prstGeom prst="line">
            <a:avLst/>
          </a:prstGeom>
          <a:ln w="16510">
            <a:solidFill>
              <a:srgbClr val="B5236B"/>
            </a:solidFill>
            <a:prstDash val="dash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528816" y="2066544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B5236B"/>
                </a:solidFill>
                <a:latin typeface="Arial"/>
              </a:rPr>
              <a:t>release gate 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4688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51FF"/>
                </a:solidFill>
                <a:latin typeface="Georgia"/>
              </a:rPr>
              <a:t>4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3580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4D4D4D"/>
                </a:solidFill>
                <a:latin typeface="Arial"/>
              </a:rPr>
              <a:t>full training run on CPU;
no GPU budget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93192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51FF"/>
                </a:solidFill>
                <a:latin typeface="Georgia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4988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4D4D4D"/>
                </a:solidFill>
                <a:latin typeface="Arial"/>
              </a:rPr>
              <a:t>of runs tracked in MLflow:
params, metrics,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6636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00">
                <a:solidFill>
                  <a:srgbClr val="000000"/>
                </a:solidFill>
                <a:latin typeface="Arial"/>
              </a:rPr>
              <a:t>- </a:t>
            </a:r>
            <a:r>
              <a:rPr sz="1100" b="0">
                <a:solidFill>
                  <a:srgbClr val="000000"/>
                </a:solidFill>
                <a:latin typeface="Arial"/>
              </a:rPr>
              <a:t>Best checkpoint selected on validation accuracy; architecture and class names travel inside the checkpoint, so serving can never load the wrong shape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docs/MODEL_CARD.md; MLflow metrics_summary.json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The API treats the model as cargo: if the model is missing, serving stays up and says so.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ML solution and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E8E8E6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Robot / Streamlit</a:t>
            </a:r>
          </a:p>
          <a:p>
            <a:pPr algn="ctr"/>
            <a:r>
              <a:rPr sz="800">
                <a:solidFill>
                  <a:srgbClr val="051C2C"/>
                </a:solidFill>
                <a:latin typeface="Arial"/>
              </a:rPr>
              <a:t>image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1031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051C2C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FastAPI /predict</a:t>
            </a:r>
          </a:p>
          <a:p>
            <a:pPr algn="ctr"/>
            <a:r>
              <a:rPr sz="800">
                <a:solidFill>
                  <a:srgbClr val="AAE6F0"/>
                </a:solidFill>
                <a:latin typeface="Arial"/>
              </a:rPr>
              <a:t>validate, infer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10312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ResNet18 in memory</a:t>
            </a:r>
          </a:p>
          <a:p>
            <a:pPr algn="ctr"/>
            <a:r>
              <a:rPr sz="800">
                <a:solidFill>
                  <a:srgbClr val="AAE6F0"/>
                </a:solidFill>
                <a:latin typeface="Arial"/>
              </a:rPr>
              <a:t>class + probabilities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42900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AAE6F0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MinIO checkpoint</a:t>
            </a:r>
          </a:p>
          <a:p>
            <a:pPr algn="ctr"/>
            <a:r>
              <a:rPr sz="800">
                <a:solidFill>
                  <a:srgbClr val="051C2C"/>
                </a:solidFill>
                <a:latin typeface="Arial"/>
              </a:rPr>
              <a:t>loaded at startup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429000"/>
            <a:ext cx="1691640" cy="603504"/>
          </a:xfrm>
          <a:prstGeom prst="roundRect">
            <a:avLst>
              <a:gd name="adj" fmla="val 12000"/>
            </a:avLst>
          </a:prstGeom>
          <a:solidFill>
            <a:srgbClr val="AAE6F0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Prometheus</a:t>
            </a:r>
          </a:p>
          <a:p>
            <a:pPr algn="ctr"/>
            <a:r>
              <a:rPr sz="800">
                <a:solidFill>
                  <a:srgbClr val="051C2C"/>
                </a:solidFill>
                <a:latin typeface="Arial"/>
              </a:rPr>
              <a:t>scrapes /metrics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2404872"/>
            <a:ext cx="7772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663440" y="2404872"/>
            <a:ext cx="7772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3813048" y="2706624"/>
            <a:ext cx="0" cy="722376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6281928" y="2706624"/>
            <a:ext cx="0" cy="722376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02920" y="4434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348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4348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Failure 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18888"/>
            <a:ext cx="7315200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743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POST /predict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97433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Class, confidence, per-class probabilities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9743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400 invalid image, 503 while loading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85816"/>
            <a:ext cx="7315200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4982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GET /health, /version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4982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Readiness, classes, architecture,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449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Reports initializing until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61304"/>
            <a:ext cx="7315200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92531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GET /metrics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92531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Counters, latency histogram, drift gauges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9253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Gauges skipped if no drift 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336792"/>
            <a:ext cx="7315200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103120"/>
            <a:ext cx="3474720" cy="27432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3317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Production posture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788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1">
                <a:solidFill>
                  <a:srgbClr val="000000"/>
                </a:solidFill>
                <a:latin typeface="Arial"/>
              </a:rPr>
              <a:t>Stateless </a:t>
            </a:r>
            <a:r>
              <a:rPr sz="1050" b="0">
                <a:solidFill>
                  <a:srgbClr val="000000"/>
                </a:solidFill>
                <a:latin typeface="Arial"/>
              </a:rPr>
              <a:t>container behind a Kubernetes Service with liveness and readiness probes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• </a:t>
            </a:r>
            <a:r>
              <a:rPr sz="1050" b="1">
                <a:solidFill>
                  <a:srgbClr val="000000"/>
                </a:solidFill>
                <a:latin typeface="Arial"/>
              </a:rPr>
              <a:t>Scalable </a:t>
            </a:r>
            <a:r>
              <a:rPr sz="1050" b="0">
                <a:solidFill>
                  <a:srgbClr val="000000"/>
                </a:solidFill>
                <a:latin typeface="Arial"/>
              </a:rPr>
              <a:t>horizontally; the model loads from MinIO, never trains in the serving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app/api/main.py; tests/test_api.py; k8s/minikube-manifest.yaml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F4"/>
                </a:solidFill>
                <a:latin typeface="Arial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CI/CD, monitoring and retraining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77639"/>
            <a:ext cx="4754880" cy="15240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AE6F0"/>
                </a:solidFill>
                <a:latin typeface="Arial"/>
              </a:rPr>
              <a:t>Every commit tested and shipped; the data watched; the model able to replace itself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From git push to a deployable, schema-validated image with no human in the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E8E8E6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git push</a:t>
            </a:r>
          </a:p>
          <a:p>
            <a:pPr algn="ctr"/>
            <a:r>
              <a:rPr sz="800">
                <a:solidFill>
                  <a:srgbClr val="051C2C"/>
                </a:solidFill>
                <a:latin typeface="Arial"/>
              </a:rPr>
              <a:t>any 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11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051C2C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Tests</a:t>
            </a:r>
          </a:p>
          <a:p>
            <a:pPr algn="ctr"/>
            <a:r>
              <a:rPr sz="800">
                <a:solidFill>
                  <a:srgbClr val="AAE6F0"/>
                </a:solidFill>
                <a:latin typeface="Arial"/>
              </a:rPr>
              <a:t>pytest + coverage to Codecov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368296"/>
            <a:ext cx="3200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4983480" y="2011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Build</a:t>
            </a:r>
          </a:p>
          <a:p>
            <a:pPr algn="ctr"/>
            <a:r>
              <a:rPr sz="800">
                <a:solidFill>
                  <a:srgbClr val="AAE6F0"/>
                </a:solidFill>
                <a:latin typeface="Arial"/>
              </a:rPr>
              <a:t>Docker image, SHA tag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368296"/>
            <a:ext cx="3200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7223760" y="2011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Publish</a:t>
            </a:r>
          </a:p>
          <a:p>
            <a:pPr algn="ctr"/>
            <a:r>
              <a:rPr sz="800">
                <a:solidFill>
                  <a:srgbClr val="AAE6F0"/>
                </a:solidFill>
                <a:latin typeface="Arial"/>
              </a:rPr>
              <a:t>GitHub Container Registry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2368296"/>
            <a:ext cx="3200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6" name="Rounded Rectangle 15"/>
          <p:cNvSpPr/>
          <p:nvPr/>
        </p:nvSpPr>
        <p:spPr>
          <a:xfrm>
            <a:off x="9464040" y="2011680"/>
            <a:ext cx="1920240" cy="713232"/>
          </a:xfrm>
          <a:prstGeom prst="roundRect">
            <a:avLst>
              <a:gd name="adj" fmla="val 12000"/>
            </a:avLst>
          </a:prstGeom>
          <a:solidFill>
            <a:srgbClr val="00A9F4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Validate</a:t>
            </a:r>
          </a:p>
          <a:p>
            <a:pPr algn="ctr"/>
            <a:r>
              <a:rPr sz="800">
                <a:solidFill>
                  <a:srgbClr val="051C2C"/>
                </a:solidFill>
                <a:latin typeface="Arial"/>
              </a:rPr>
              <a:t>kubeconform on manifests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2368296"/>
            <a:ext cx="32004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02920" y="32918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Deterministic over flaky: </a:t>
            </a:r>
            <a:r>
              <a:rPr sz="1150" b="0">
                <a:solidFill>
                  <a:srgbClr val="000000"/>
                </a:solidFill>
                <a:latin typeface="Arial"/>
              </a:rPr>
              <a:t>offline manifest validation replaced a live Minikube rollout that failed randomly on hosted runners; the same manifests deploy to Minikube locally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Traceable: </a:t>
            </a:r>
            <a:r>
              <a:rPr sz="1150" b="0">
                <a:solidFill>
                  <a:srgbClr val="000000"/>
                </a:solidFill>
                <a:latin typeface="Arial"/>
              </a:rPr>
              <a:t>SHA-tagged images mean any running pod maps to exactly one commit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Hardened: </a:t>
            </a:r>
            <a:r>
              <a:rPr sz="1150" b="0">
                <a:solidFill>
                  <a:srgbClr val="000000"/>
                </a:solidFill>
                <a:latin typeface="Arial"/>
              </a:rPr>
              <a:t>manifests carry liveness and readiness probes and resource limits on all four deployments</a:t>
            </a:r>
          </a:p>
        </p:txBody>
      </p:sp>
      <p:pic>
        <p:nvPicPr>
          <p:cNvPr id="19" name="Picture 18" descr="github_action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0"/>
            <a:ext cx="4206240" cy="1488857"/>
          </a:xfrm>
          <a:prstGeom prst="rect">
            <a:avLst/>
          </a:prstGeom>
          <a:ln w="9525">
            <a:solidFill>
              <a:srgbClr val="B3B3B3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7315200" y="61340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CI run: tests, build, deploy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.github/workflows/ci_cd.yml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One Grafana stack answers three questions: is serving healthy, are the pipelines running, is the data still the same.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pic>
        <p:nvPicPr>
          <p:cNvPr id="9" name="Picture 8" descr="grafana_calssifi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11155680" cy="2909166"/>
          </a:xfrm>
          <a:prstGeom prst="rect">
            <a:avLst/>
          </a:prstGeom>
          <a:ln w="9525">
            <a:solidFill>
              <a:srgbClr val="B3B3B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4673957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Classifier dashboard: total predictions and p90 latency vs the 500 ms target</a:t>
            </a:r>
          </a:p>
        </p:txBody>
      </p:sp>
      <p:pic>
        <p:nvPicPr>
          <p:cNvPr id="11" name="Picture 10" descr="ml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0"/>
            <a:ext cx="2041451" cy="1097280"/>
          </a:xfrm>
          <a:prstGeom prst="rect">
            <a:avLst/>
          </a:prstGeom>
          <a:ln w="9525">
            <a:solidFill>
              <a:srgbClr val="B3B3B3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199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MLflow: every training run tracked</a:t>
            </a:r>
          </a:p>
        </p:txBody>
      </p:sp>
      <p:pic>
        <p:nvPicPr>
          <p:cNvPr id="13" name="Picture 12" descr="airflow_data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029200"/>
            <a:ext cx="2197616" cy="1097280"/>
          </a:xfrm>
          <a:prstGeom prst="rect">
            <a:avLst/>
          </a:prstGeom>
          <a:ln w="9525">
            <a:solidFill>
              <a:srgbClr val="B3B3B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0" y="6199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Airflow: data and retrain DAGs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monitoring/grafana/dashboards; Prometheus scrapes API and Airflow every 15 s; drift gauges served by the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The model watches its own inputs and replaces itself only when the replacement is provably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874519" cy="676656"/>
          </a:xfrm>
          <a:prstGeom prst="roundRect">
            <a:avLst>
              <a:gd name="adj" fmla="val 12000"/>
            </a:avLst>
          </a:prstGeom>
          <a:solidFill>
            <a:srgbClr val="051C2C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850">
                <a:solidFill>
                  <a:srgbClr val="AAE6F0"/>
                </a:solidFill>
                <a:latin typeface="Arial"/>
              </a:rPr>
              <a:t>PSI on 8 image features vs baseline, threshold 0.2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20240"/>
            <a:ext cx="1874519" cy="676656"/>
          </a:xfrm>
          <a:prstGeom prst="roundRect">
            <a:avLst>
              <a:gd name="adj" fmla="val 12000"/>
            </a:avLst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Decide</a:t>
            </a:r>
          </a:p>
          <a:p>
            <a:pPr algn="ctr"/>
            <a:r>
              <a:rPr sz="850">
                <a:solidFill>
                  <a:srgbClr val="AAE6F0"/>
                </a:solidFill>
                <a:latin typeface="Arial"/>
              </a:rPr>
              <a:t>retrain on drift flag or insufficient data; monthly safety 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258568"/>
            <a:ext cx="36576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4983480" y="1920240"/>
            <a:ext cx="1874519" cy="676656"/>
          </a:xfrm>
          <a:prstGeom prst="roundRect">
            <a:avLst>
              <a:gd name="adj" fmla="val 12000"/>
            </a:avLst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Retrain</a:t>
            </a:r>
          </a:p>
          <a:p>
            <a:pPr algn="ctr"/>
            <a:r>
              <a:rPr sz="850">
                <a:solidFill>
                  <a:srgbClr val="AAE6F0"/>
                </a:solidFill>
                <a:latin typeface="Arial"/>
              </a:rPr>
              <a:t>Airflow syncs data, trains, logs to MLflow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258568"/>
            <a:ext cx="36576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7223760" y="1920240"/>
            <a:ext cx="1874519" cy="676656"/>
          </a:xfrm>
          <a:prstGeom prst="roundRect">
            <a:avLst>
              <a:gd name="adj" fmla="val 12000"/>
            </a:avLst>
          </a:prstGeom>
          <a:solidFill>
            <a:srgbClr val="00A9F4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Gate</a:t>
            </a:r>
          </a:p>
          <a:p>
            <a:pPr algn="ctr"/>
            <a:r>
              <a:rPr sz="850">
                <a:solidFill>
                  <a:srgbClr val="051C2C"/>
                </a:solidFill>
                <a:latin typeface="Arial"/>
              </a:rPr>
              <a:t>promote only if F1 &gt;= 0.85 and no regression vs live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2258568"/>
            <a:ext cx="36576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16" name="Rounded Rectangle 15"/>
          <p:cNvSpPr/>
          <p:nvPr/>
        </p:nvSpPr>
        <p:spPr>
          <a:xfrm>
            <a:off x="9464040" y="1920240"/>
            <a:ext cx="1874519" cy="676656"/>
          </a:xfrm>
          <a:prstGeom prst="roundRect">
            <a:avLst>
              <a:gd name="adj" fmla="val 12000"/>
            </a:avLst>
          </a:prstGeom>
          <a:solidFill>
            <a:srgbClr val="AAE6F0"/>
          </a:solidFill>
          <a:ln>
            <a:noFill/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Refresh</a:t>
            </a:r>
          </a:p>
          <a:p>
            <a:pPr algn="ctr"/>
            <a:r>
              <a:rPr sz="850">
                <a:solidFill>
                  <a:srgbClr val="051C2C"/>
                </a:solidFill>
                <a:latin typeface="Arial"/>
              </a:rPr>
              <a:t>checkpoint + metrics to MinIO; baseline updated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98280" y="2258568"/>
            <a:ext cx="365760" cy="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058400" y="2596896"/>
            <a:ext cx="0" cy="466344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440179.5" y="3063240"/>
            <a:ext cx="8618220.5" cy="0"/>
          </a:xfrm>
          <a:prstGeom prst="line">
            <a:avLst/>
          </a:prstGeom>
          <a:ln w="18288">
            <a:solidFill>
              <a:srgbClr val="2251FF"/>
            </a:solidFill>
            <a:prstDash val="dash"/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1440179.5" y="2651760"/>
            <a:ext cx="0.0" cy="411480"/>
          </a:xfrm>
          <a:prstGeom prst="line">
            <a:avLst/>
          </a:prstGeom>
          <a:ln w="17780">
            <a:solidFill>
              <a:srgbClr val="4D4D4D"/>
            </a:solidFill>
            <a:tail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02920" y="365760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One definition of drift: </a:t>
            </a:r>
            <a:r>
              <a:rPr sz="1150" b="0">
                <a:solidFill>
                  <a:srgbClr val="000000"/>
                </a:solidFill>
                <a:latin typeface="Arial"/>
              </a:rPr>
              <a:t>the same PSI engine feeds the Grafana dashboard and the retrain gate, so monitoring and automation can never disagree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No silent failures: </a:t>
            </a:r>
            <a:r>
              <a:rPr sz="1150" b="0">
                <a:solidFill>
                  <a:srgbClr val="000000"/>
                </a:solidFill>
                <a:latin typeface="Arial"/>
              </a:rPr>
              <a:t>the drift check never breaks the DAG; the first run seeds the baseline instead of failing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1">
                <a:solidFill>
                  <a:srgbClr val="000000"/>
                </a:solidFill>
                <a:latin typeface="Arial"/>
              </a:rPr>
              <a:t>No accidental regressions: </a:t>
            </a:r>
            <a:r>
              <a:rPr sz="1150" b="0">
                <a:solidFill>
                  <a:srgbClr val="000000"/>
                </a:solidFill>
                <a:latin typeface="Arial"/>
              </a:rPr>
              <a:t>the promotion gate compares the candidate to the live model before anything is uploaded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monitoring/drift/; retrain/promotion.py; airflow/dags/retrain_pipeline.py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Five minutes from a live prediction to a retraining decision, on the running stack.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880360"/>
            <a:ext cx="11183112" cy="0"/>
          </a:xfrm>
          <a:prstGeom prst="line">
            <a:avLst/>
          </a:prstGeom>
          <a:ln w="15240">
            <a:solidFill>
              <a:srgbClr val="00000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02920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228600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0:00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9542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2465222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1:00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6164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701844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2:00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12787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938467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3:00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49409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75089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4:00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686032" y="2880360"/>
            <a:ext cx="0" cy="7315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1411712" y="29900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D4D4D"/>
                </a:solidFill>
                <a:latin typeface="Arial"/>
              </a:rPr>
              <a:t>5:00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67712"/>
            <a:ext cx="2181758" cy="5029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377440"/>
            <a:ext cx="205374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3337560"/>
            <a:ext cx="209946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4D4D4D"/>
                </a:solidFill>
                <a:latin typeface="Arial"/>
              </a:rPr>
              <a:t>Streamlit upload and POST /predict: class, confidence; /version shows the model 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39542" y="2267712"/>
            <a:ext cx="218175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2694" y="2377440"/>
            <a:ext cx="205374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7830" y="3337560"/>
            <a:ext cx="209946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4D4D4D"/>
                </a:solidFill>
                <a:latin typeface="Arial"/>
              </a:rPr>
              <a:t>GitHub Actions on the latest commit: tests, image build, manifest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6164" y="2267712"/>
            <a:ext cx="2852745" cy="502920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9316" y="2377440"/>
            <a:ext cx="27247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4452" y="3337560"/>
            <a:ext cx="277044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4D4D4D"/>
                </a:solidFill>
                <a:latin typeface="Arial"/>
              </a:rPr>
              <a:t>Grafana: prediction mix and latency; drift dashboard with per-feature PSI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3773" y="2267712"/>
            <a:ext cx="3747394" cy="502920"/>
          </a:xfrm>
          <a:prstGeom prst="rect">
            <a:avLst/>
          </a:prstGeom>
          <a:solidFill>
            <a:srgbClr val="AA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6925" y="2377440"/>
            <a:ext cx="36193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Retrain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2061" y="3337560"/>
            <a:ext cx="36650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4D4D4D"/>
                </a:solidFill>
                <a:latin typeface="Arial"/>
              </a:rPr>
              <a:t>Trigger the retrain DAG: drift check, training in MLflow, promotion decision in the 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>
                <a:solidFill>
                  <a:srgbClr val="000000"/>
                </a:solidFill>
                <a:latin typeface="Arial"/>
              </a:rPr>
              <a:t>- </a:t>
            </a:r>
            <a:r>
              <a:rPr sz="1150" b="0">
                <a:solidFill>
                  <a:srgbClr val="000000"/>
                </a:solidFill>
                <a:latin typeface="Arial"/>
              </a:rPr>
              <a:t>demo.sh runs the whole sequence on one command; docs/LOOM_SCRIPT.md scripts the narration shot by 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demo.sh; docs/LOOM_SCRIPT.md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3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00000"/>
                </a:solidFill>
                <a:latin typeface="Georgia"/>
              </a:rPr>
              <a:t>Known limits each carry a named next increment; none of them blocks the loop the thesis demonstrates.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3112" cy="20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59775" y="6565392"/>
            <a:ext cx="3931920" cy="292608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6611112"/>
            <a:ext cx="3611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051C2C"/>
                </a:solidFill>
                <a:latin typeface="Arial"/>
              </a:rPr>
              <a:t>CI/CD, monitoring and 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47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Arial"/>
              </a:rPr>
              <a:t>GreenGuard MLOps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2177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Current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7853" y="1600200"/>
            <a:ext cx="4112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Why it is acceptable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7435" y="1600200"/>
            <a:ext cx="34414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Next increment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84248"/>
            <a:ext cx="11183112" cy="1397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32177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Binary classifier on an easy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7853" y="2139696"/>
            <a:ext cx="41124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The thesis demonstrates the loop, not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435" y="2139696"/>
            <a:ext cx="3441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Multi-class weeds, harder field imagery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2432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88336"/>
            <a:ext cx="32177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Drift measured on image 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7853" y="2688336"/>
            <a:ext cx="41124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Interpretable, cheap, catches lighting and season shifts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435" y="2688336"/>
            <a:ext cx="3441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Embedding-based drift for semantic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7296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36976"/>
            <a:ext cx="32177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Retraining fully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7853" y="3236976"/>
            <a:ext cx="41124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Gated by the F1 floor plus regression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7435" y="3236976"/>
            <a:ext cx="3441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Human approval step and retrain cooldown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2160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85616"/>
            <a:ext cx="32177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No alerting rules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7853" y="3785616"/>
            <a:ext cx="41124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Dashboards reviewed during weekly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7435" y="3785616"/>
            <a:ext cx="34414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Prometheus alerts wired to the retrain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70248"/>
            <a:ext cx="11183112" cy="6350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291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Arial"/>
              </a:rPr>
              <a:t>Source: docs/MODEL_CARD.md limitations; docs/DEFENSE.md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From a working model to a
self-maintaining AI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AE6F0"/>
                </a:solidFill>
                <a:latin typeface="Arial"/>
              </a:rPr>
              <a:t>• </a:t>
            </a:r>
            <a:r>
              <a:rPr sz="1300" b="0">
                <a:solidFill>
                  <a:srgbClr val="AAE6F0"/>
                </a:solidFill>
                <a:latin typeface="Arial"/>
              </a:rPr>
              <a:t>Live demo: prediction API, CI/CD run, drift dashboard, retraining DAG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AE6F0"/>
                </a:solidFill>
                <a:latin typeface="Arial"/>
              </a:rPr>
              <a:t>• </a:t>
            </a:r>
            <a:r>
              <a:rPr sz="1300" b="0">
                <a:solidFill>
                  <a:srgbClr val="AAE6F0"/>
                </a:solidFill>
                <a:latin typeface="Arial"/>
              </a:rPr>
              <a:t>Code, tests, coverage and documentation public on GitHub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AE6F0"/>
                </a:solidFill>
                <a:latin typeface="Arial"/>
              </a:rPr>
              <a:t>• </a:t>
            </a:r>
            <a:r>
              <a:rPr sz="1300" b="0">
                <a:solidFill>
                  <a:srgbClr val="AAE6F0"/>
                </a:solidFill>
                <a:latin typeface="Arial"/>
              </a:rPr>
              <a:t>Cahier des charges and model card in the deliverables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AE6F0"/>
                </a:solidFill>
                <a:latin typeface="Arial"/>
              </a:rPr>
              <a:t>Enzo Berreur, RNCP Bloc 4,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